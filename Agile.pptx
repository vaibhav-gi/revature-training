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3"/>
    <p:sldId id="258" r:id="rId4"/>
    <p:sldId id="257" r:id="rId5"/>
    <p:sldId id="259" r:id="rId6"/>
    <p:sldId id="261" r:id="rId7"/>
    <p:sldId id="263" r:id="rId8"/>
    <p:sldId id="262" r:id="rId9"/>
    <p:sldId id="264" r:id="rId10"/>
    <p:sldId id="266" r:id="rId12"/>
    <p:sldId id="267" r:id="rId13"/>
    <p:sldId id="269" r:id="rId14"/>
    <p:sldId id="284" r:id="rId15"/>
    <p:sldId id="285" r:id="rId16"/>
    <p:sldId id="286" r:id="rId17"/>
    <p:sldId id="287" r:id="rId18"/>
    <p:sldId id="288" r:id="rId19"/>
    <p:sldId id="289" r:id="rId20"/>
    <p:sldId id="290" r:id="rId21"/>
    <p:sldId id="291"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92" r:id="rId35"/>
    <p:sldId id="293" r:id="rId36"/>
    <p:sldId id="294" r:id="rId37"/>
    <p:sldId id="295" r:id="rId38"/>
    <p:sldId id="296" r:id="rId39"/>
    <p:sldId id="297" r:id="rId40"/>
    <p:sldId id="28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AAE5D01-F708-4EFC-81C7-59FC1E66B5A2}"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AAE5D01-F708-4EFC-81C7-59FC1E66B5A2}" type="slidenum">
              <a:rPr lang="en-US" smtClean="0"/>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AAE5D01-F708-4EFC-81C7-59FC1E66B5A2}" type="slidenum">
              <a:rPr lang="en-US" smtClean="0"/>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smtClean="0"/>
          </a:p>
          <a:p>
            <a:endParaRPr lang="en-US" dirty="0"/>
          </a:p>
        </p:txBody>
      </p:sp>
      <p:sp>
        <p:nvSpPr>
          <p:cNvPr id="4" name="Slide Number Placeholder 3"/>
          <p:cNvSpPr>
            <a:spLocks noGrp="1"/>
          </p:cNvSpPr>
          <p:nvPr>
            <p:ph type="sldNum" sz="quarter" idx="10"/>
          </p:nvPr>
        </p:nvSpPr>
        <p:spPr/>
        <p:txBody>
          <a:bodyPr/>
          <a:lstStyle/>
          <a:p>
            <a:fld id="{AAAE5D01-F708-4EFC-81C7-59FC1E66B5A2}" type="slidenum">
              <a:rPr lang="en-US" smtClean="0"/>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AAE5D01-F708-4EFC-81C7-59FC1E66B5A2}" type="slidenum">
              <a:rPr lang="en-US" smtClean="0"/>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AAE5D01-F708-4EFC-81C7-59FC1E66B5A2}" type="slidenum">
              <a:rPr lang="en-US" smtClean="0"/>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AE5D01-F708-4EFC-81C7-59FC1E66B5A2}"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mailto:Sharon.reddehase@doublelinepartners.com" TargetMode="External"/><Relationship Id="rId4" Type="http://schemas.openxmlformats.org/officeDocument/2006/relationships/hyperlink" Target="mailto:ed@doublelinepartners.com" TargetMode="External"/><Relationship Id="rId3" Type="http://schemas.openxmlformats.org/officeDocument/2006/relationships/hyperlink" Target="mailto:adam.warner@region10.org" TargetMode="External"/><Relationship Id="rId2" Type="http://schemas.openxmlformats.org/officeDocument/2006/relationships/hyperlink" Target="http://www.schoolviz.org/reveal" TargetMode="External"/><Relationship Id="rId1" Type="http://schemas.openxmlformats.org/officeDocument/2006/relationships/hyperlink" Target="http://www.infoq.com/agi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IN" altLang="en-US">
                <a:solidFill>
                  <a:srgbClr val="FF0000"/>
                </a:solidFill>
              </a:rPr>
              <a:t>Agile</a:t>
            </a:r>
            <a:endParaRPr lang="en-IN" altLang="en-US">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b="1" kern="100" noProof="0" dirty="0">
                <a:ln>
                  <a:noFill/>
                </a:ln>
                <a:solidFill>
                  <a:srgbClr val="C00000"/>
                </a:solidFill>
                <a:effectLst/>
                <a:highlight>
                  <a:srgbClr val="D9BC9E"/>
                </a:highlight>
                <a:uLnTx/>
                <a:uFillTx/>
                <a:latin typeface="Calibri" panose="020F0502020204030204" charset="0"/>
                <a:ea typeface="Calibri" panose="020F0502020204030204" charset="0"/>
                <a:cs typeface="Calibri" panose="020F0502020204030204" charset="0"/>
                <a:sym typeface="+mn-ea"/>
              </a:rPr>
              <a:t>Introduction to Agile</a:t>
            </a:r>
            <a:endParaRPr lang="en-IN" b="1" kern="100" noProof="0" dirty="0">
              <a:ln>
                <a:noFill/>
              </a:ln>
              <a:solidFill>
                <a:srgbClr val="C00000"/>
              </a:solidFill>
              <a:effectLst/>
              <a:highlight>
                <a:srgbClr val="D9BC9E"/>
              </a:highlight>
              <a:uLnTx/>
              <a:uFillTx/>
              <a:latin typeface="Calibri" panose="020F0502020204030204" charset="0"/>
              <a:ea typeface="Calibri" panose="020F0502020204030204" charset="0"/>
              <a:cs typeface="Calibri" panose="020F0502020204030204" charset="0"/>
              <a:sym typeface="+mn-ea"/>
            </a:endParaRPr>
          </a:p>
        </p:txBody>
      </p:sp>
      <p:sp>
        <p:nvSpPr>
          <p:cNvPr id="3" name="Content Placeholder 2"/>
          <p:cNvSpPr>
            <a:spLocks noGrp="1"/>
          </p:cNvSpPr>
          <p:nvPr>
            <p:ph idx="1"/>
          </p:nvPr>
        </p:nvSpPr>
        <p:spPr/>
        <p:txBody>
          <a:bodyPr/>
          <a:p>
            <a:pPr lvl="0">
              <a:lnSpc>
                <a:spcPct val="115000"/>
              </a:lnSpc>
              <a:buFont typeface="Arial" panose="020B0604020202020204" pitchFamily="34" charset="0"/>
              <a:buChar char="•"/>
              <a:defRPr/>
            </a:pPr>
            <a:r>
              <a:rPr lang="en-IN" altLang="en-US" kern="100" dirty="0">
                <a:solidFill>
                  <a:srgbClr val="C00000"/>
                </a:solidFill>
                <a:latin typeface="Calibri" panose="020F0502020204030204" charset="0"/>
                <a:ea typeface="Calibri" panose="020F0502020204030204" charset="0"/>
                <a:cs typeface="Calibri" panose="020F0502020204030204" charset="0"/>
                <a:sym typeface="+mn-ea"/>
              </a:rPr>
              <a:t> </a:t>
            </a:r>
            <a:r>
              <a:rPr lang="en-US" kern="100" dirty="0">
                <a:solidFill>
                  <a:srgbClr val="C00000"/>
                </a:solidFill>
                <a:latin typeface="Calibri" panose="020F0502020204030204" charset="0"/>
                <a:ea typeface="Calibri" panose="020F0502020204030204" charset="0"/>
                <a:cs typeface="Calibri" panose="020F0502020204030204" charset="0"/>
                <a:sym typeface="+mn-ea"/>
              </a:rPr>
              <a:t>The Agile Manifesto</a:t>
            </a:r>
            <a:endParaRPr lang="en-US" kern="100" dirty="0">
              <a:solidFill>
                <a:srgbClr val="C00000"/>
              </a:solidFill>
              <a:latin typeface="Calibri" panose="020F0502020204030204" charset="0"/>
              <a:ea typeface="Calibri" panose="020F0502020204030204" charset="0"/>
              <a:cs typeface="Calibri" panose="020F0502020204030204" charset="0"/>
            </a:endParaRPr>
          </a:p>
          <a:p>
            <a:pPr lvl="0">
              <a:lnSpc>
                <a:spcPct val="115000"/>
              </a:lnSpc>
              <a:buFont typeface="Arial" panose="020B0604020202020204" pitchFamily="34" charset="0"/>
              <a:buChar char="•"/>
              <a:defRPr/>
            </a:pPr>
            <a:r>
              <a:rPr lang="en-US" kern="100" dirty="0">
                <a:solidFill>
                  <a:srgbClr val="C00000"/>
                </a:solidFill>
                <a:latin typeface="Calibri" panose="020F0502020204030204" charset="0"/>
                <a:ea typeface="Calibri" panose="020F0502020204030204" charset="0"/>
                <a:cs typeface="Calibri" panose="020F0502020204030204" charset="0"/>
                <a:sym typeface="+mn-ea"/>
              </a:rPr>
              <a:t> The Agile Principles</a:t>
            </a:r>
            <a:endParaRPr lang="en-US" kern="100" dirty="0">
              <a:solidFill>
                <a:srgbClr val="C00000"/>
              </a:solidFill>
              <a:latin typeface="Calibri" panose="020F0502020204030204" charset="0"/>
              <a:ea typeface="Calibri" panose="020F0502020204030204" charset="0"/>
              <a:cs typeface="Calibri" panose="020F0502020204030204" charset="0"/>
            </a:endParaRPr>
          </a:p>
          <a:p>
            <a:pPr lvl="0">
              <a:lnSpc>
                <a:spcPct val="115000"/>
              </a:lnSpc>
              <a:buFont typeface="Arial" panose="020B0604020202020204" pitchFamily="34" charset="0"/>
              <a:buChar char="•"/>
              <a:defRPr/>
            </a:pPr>
            <a:r>
              <a:rPr lang="en-US" kern="100" dirty="0">
                <a:solidFill>
                  <a:srgbClr val="C00000"/>
                </a:solidFill>
                <a:latin typeface="Calibri" panose="020F0502020204030204" charset="0"/>
                <a:ea typeface="Calibri" panose="020F0502020204030204" charset="0"/>
                <a:cs typeface="Calibri" panose="020F0502020204030204" charset="0"/>
                <a:sym typeface="+mn-ea"/>
              </a:rPr>
              <a:t> The Agile Team</a:t>
            </a:r>
            <a:endParaRPr lang="en-US" kern="100" dirty="0">
              <a:solidFill>
                <a:srgbClr val="C00000"/>
              </a:solidFill>
              <a:latin typeface="Calibri" panose="020F0502020204030204" charset="0"/>
              <a:ea typeface="Calibri" panose="020F0502020204030204" charset="0"/>
              <a:cs typeface="Calibri" panose="020F0502020204030204" charset="0"/>
            </a:endParaRPr>
          </a:p>
          <a:p>
            <a:pPr lvl="0">
              <a:lnSpc>
                <a:spcPct val="115000"/>
              </a:lnSpc>
              <a:buFont typeface="Arial" panose="020B0604020202020204" pitchFamily="34" charset="0"/>
              <a:buChar char="•"/>
              <a:defRPr/>
            </a:pPr>
            <a:r>
              <a:rPr lang="en-US" kern="100" dirty="0">
                <a:solidFill>
                  <a:srgbClr val="C00000"/>
                </a:solidFill>
                <a:latin typeface="Calibri" panose="020F0502020204030204" charset="0"/>
                <a:ea typeface="Calibri" panose="020F0502020204030204" charset="0"/>
                <a:cs typeface="Calibri" panose="020F0502020204030204" charset="0"/>
                <a:sym typeface="+mn-ea"/>
              </a:rPr>
              <a:t> Early and Frequent Feedback</a:t>
            </a:r>
            <a:endParaRPr lang="en-US" kern="100" dirty="0">
              <a:solidFill>
                <a:srgbClr val="C00000"/>
              </a:solidFill>
              <a:latin typeface="Calibri" panose="020F0502020204030204" charset="0"/>
              <a:ea typeface="Calibri" panose="020F0502020204030204" charset="0"/>
              <a:cs typeface="Calibri" panose="020F0502020204030204" charset="0"/>
            </a:endParaRPr>
          </a:p>
          <a:p>
            <a:pPr lvl="0">
              <a:lnSpc>
                <a:spcPct val="115000"/>
              </a:lnSpc>
              <a:buFont typeface="Arial" panose="020B0604020202020204" pitchFamily="34" charset="0"/>
              <a:buChar char="•"/>
              <a:defRPr/>
            </a:pPr>
            <a:r>
              <a:rPr lang="en-IN" altLang="en-US" kern="100" dirty="0">
                <a:solidFill>
                  <a:srgbClr val="C00000"/>
                </a:solidFill>
                <a:latin typeface="Calibri" panose="020F0502020204030204" charset="0"/>
                <a:ea typeface="Calibri" panose="020F0502020204030204" charset="0"/>
                <a:cs typeface="Calibri" panose="020F0502020204030204" charset="0"/>
                <a:sym typeface="+mn-ea"/>
              </a:rPr>
              <a:t> </a:t>
            </a:r>
            <a:r>
              <a:rPr lang="en-US" kern="100" dirty="0">
                <a:solidFill>
                  <a:srgbClr val="C00000"/>
                </a:solidFill>
                <a:latin typeface="Calibri" panose="020F0502020204030204" charset="0"/>
                <a:ea typeface="Calibri" panose="020F0502020204030204" charset="0"/>
                <a:cs typeface="Calibri" panose="020F0502020204030204" charset="0"/>
                <a:sym typeface="+mn-ea"/>
              </a:rPr>
              <a:t>Agile events (Sprint </a:t>
            </a:r>
            <a:r>
              <a:rPr lang="en-US" kern="100" dirty="0" err="1">
                <a:solidFill>
                  <a:srgbClr val="C00000"/>
                </a:solidFill>
                <a:latin typeface="Calibri" panose="020F0502020204030204" charset="0"/>
                <a:ea typeface="Calibri" panose="020F0502020204030204" charset="0"/>
                <a:cs typeface="Calibri" panose="020F0502020204030204" charset="0"/>
                <a:sym typeface="+mn-ea"/>
              </a:rPr>
              <a:t>Planning,Review,Retro</a:t>
            </a:r>
            <a:r>
              <a:rPr lang="en-US" kern="100" dirty="0">
                <a:solidFill>
                  <a:srgbClr val="C00000"/>
                </a:solidFill>
                <a:latin typeface="Calibri" panose="020F0502020204030204" charset="0"/>
                <a:ea typeface="Calibri" panose="020F0502020204030204" charset="0"/>
                <a:cs typeface="Calibri" panose="020F0502020204030204" charset="0"/>
                <a:sym typeface="+mn-ea"/>
              </a:rPr>
              <a:t> </a:t>
            </a:r>
            <a:r>
              <a:rPr lang="en-US" kern="100" dirty="0" err="1">
                <a:solidFill>
                  <a:srgbClr val="C00000"/>
                </a:solidFill>
                <a:latin typeface="Calibri" panose="020F0502020204030204" charset="0"/>
                <a:ea typeface="Calibri" panose="020F0502020204030204" charset="0"/>
                <a:cs typeface="Calibri" panose="020F0502020204030204" charset="0"/>
                <a:sym typeface="+mn-ea"/>
              </a:rPr>
              <a:t>etc</a:t>
            </a:r>
            <a:r>
              <a:rPr lang="en-US" kern="100" dirty="0">
                <a:solidFill>
                  <a:srgbClr val="C00000"/>
                </a:solidFill>
                <a:latin typeface="Calibri" panose="020F0502020204030204" charset="0"/>
                <a:ea typeface="Calibri" panose="020F0502020204030204" charset="0"/>
                <a:cs typeface="Calibri" panose="020F0502020204030204" charset="0"/>
                <a:sym typeface="+mn-ea"/>
              </a:rPr>
              <a:t>)</a:t>
            </a:r>
            <a:endParaRPr lang="en-US" kern="100" dirty="0">
              <a:solidFill>
                <a:srgbClr val="C00000"/>
              </a:solidFill>
              <a:latin typeface="Calibri" panose="020F0502020204030204" charset="0"/>
              <a:ea typeface="Calibri" panose="020F0502020204030204" charset="0"/>
              <a:cs typeface="Calibri" panose="020F0502020204030204" charset="0"/>
            </a:endParaRPr>
          </a:p>
          <a:p>
            <a:pPr lvl="0">
              <a:lnSpc>
                <a:spcPct val="115000"/>
              </a:lnSpc>
              <a:buFont typeface="Arial" panose="020B0604020202020204" pitchFamily="34" charset="0"/>
              <a:buChar char="•"/>
              <a:defRPr/>
            </a:pPr>
            <a:r>
              <a:rPr lang="en-US" kern="100" dirty="0">
                <a:solidFill>
                  <a:srgbClr val="C00000"/>
                </a:solidFill>
                <a:latin typeface="Calibri" panose="020F0502020204030204" charset="0"/>
                <a:ea typeface="Calibri" panose="020F0502020204030204" charset="0"/>
                <a:cs typeface="Calibri" panose="020F0502020204030204" charset="0"/>
                <a:sym typeface="+mn-ea"/>
              </a:rPr>
              <a:t>Roles of Agile team</a:t>
            </a:r>
            <a:endParaRPr lang="en-US" kern="100" dirty="0">
              <a:solidFill>
                <a:srgbClr val="C00000"/>
              </a:solidFill>
              <a:latin typeface="Calibri" panose="020F0502020204030204" charset="0"/>
              <a:ea typeface="Calibri" panose="020F0502020204030204" charset="0"/>
              <a:cs typeface="Calibri" panose="020F0502020204030204" charset="0"/>
            </a:endParaRPr>
          </a:p>
          <a:p>
            <a:pPr>
              <a:buFont typeface="Arial" panose="020B0604020202020204" pitchFamily="34" charset="0"/>
              <a:buChar char="•"/>
            </a:pPr>
            <a:endParaRPr lang="en-US" kern="100" dirty="0">
              <a:solidFill>
                <a:srgbClr val="C00000"/>
              </a:solidFill>
              <a:latin typeface="Calibri" panose="020F0502020204030204" charset="0"/>
              <a:ea typeface="Calibri" panose="020F0502020204030204" charset="0"/>
              <a:cs typeface="Calibri" panose="020F0502020204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smtClean="0">
                <a:solidFill>
                  <a:srgbClr val="C00000"/>
                </a:solidFill>
                <a:latin typeface="Papyrus" panose="03070502060502030205" pitchFamily="66" charset="0"/>
                <a:sym typeface="+mn-ea"/>
              </a:rPr>
              <a:t>Agile Manifesto</a:t>
            </a:r>
            <a:endParaRPr lang="en-US"/>
          </a:p>
        </p:txBody>
      </p:sp>
      <p:sp>
        <p:nvSpPr>
          <p:cNvPr id="3" name="Content Placeholder 2"/>
          <p:cNvSpPr>
            <a:spLocks noGrp="1"/>
          </p:cNvSpPr>
          <p:nvPr>
            <p:ph idx="1"/>
          </p:nvPr>
        </p:nvSpPr>
        <p:spPr/>
        <p:txBody>
          <a:bodyPr>
            <a:normAutofit fontScale="90000" lnSpcReduction="20000"/>
          </a:bodyPr>
          <a:p>
            <a:pPr marL="0" indent="0">
              <a:buNone/>
            </a:pPr>
            <a:r>
              <a:rPr lang="en-US" b="1" dirty="0" smtClean="0">
                <a:solidFill>
                  <a:srgbClr val="C00000"/>
                </a:solidFill>
                <a:latin typeface="Calibri" panose="020F0502020204030204" charset="0"/>
                <a:cs typeface="Calibri" panose="020F0502020204030204" charset="0"/>
                <a:sym typeface="+mn-ea"/>
              </a:rPr>
              <a:t>We are uncovering better ways of developing software by doing it and helping others do it. Through this work we have come to value:</a:t>
            </a:r>
            <a:endParaRPr lang="en-US" b="1" dirty="0" smtClean="0">
              <a:solidFill>
                <a:srgbClr val="C00000"/>
              </a:solidFill>
              <a:latin typeface="Calibri" panose="020F0502020204030204" charset="0"/>
              <a:cs typeface="Calibri" panose="020F0502020204030204" charset="0"/>
              <a:sym typeface="+mn-ea"/>
            </a:endParaRPr>
          </a:p>
          <a:p>
            <a:pPr marL="0" indent="0">
              <a:buNone/>
            </a:pPr>
            <a:endParaRPr lang="en-US" b="1" dirty="0" smtClean="0">
              <a:solidFill>
                <a:srgbClr val="C00000"/>
              </a:solidFill>
              <a:latin typeface="Calibri" panose="020F0502020204030204" charset="0"/>
              <a:cs typeface="Calibri" panose="020F0502020204030204" charset="0"/>
            </a:endParaRPr>
          </a:p>
          <a:p>
            <a:r>
              <a:rPr lang="en-US" b="1" dirty="0" smtClean="0">
                <a:solidFill>
                  <a:srgbClr val="C00000"/>
                </a:solidFill>
                <a:latin typeface="Calibri" panose="020F0502020204030204" charset="0"/>
                <a:cs typeface="Calibri" panose="020F0502020204030204" charset="0"/>
                <a:sym typeface="+mn-ea"/>
              </a:rPr>
              <a:t>Individuals and interactions over processes and tools </a:t>
            </a:r>
            <a:endParaRPr lang="en-US" b="1" dirty="0" smtClean="0">
              <a:solidFill>
                <a:srgbClr val="C00000"/>
              </a:solidFill>
              <a:latin typeface="Calibri" panose="020F0502020204030204" charset="0"/>
              <a:cs typeface="Calibri" panose="020F0502020204030204" charset="0"/>
            </a:endParaRPr>
          </a:p>
          <a:p>
            <a:r>
              <a:rPr lang="en-US" b="1" dirty="0" smtClean="0">
                <a:solidFill>
                  <a:srgbClr val="C00000"/>
                </a:solidFill>
                <a:latin typeface="Calibri" panose="020F0502020204030204" charset="0"/>
                <a:cs typeface="Calibri" panose="020F0502020204030204" charset="0"/>
                <a:sym typeface="+mn-ea"/>
              </a:rPr>
              <a:t>Working software over comprehensive documentation </a:t>
            </a:r>
            <a:endParaRPr lang="en-US" b="1" dirty="0" smtClean="0">
              <a:solidFill>
                <a:srgbClr val="C00000"/>
              </a:solidFill>
              <a:latin typeface="Calibri" panose="020F0502020204030204" charset="0"/>
              <a:cs typeface="Calibri" panose="020F0502020204030204" charset="0"/>
            </a:endParaRPr>
          </a:p>
          <a:p>
            <a:r>
              <a:rPr lang="en-US" b="1" dirty="0" smtClean="0">
                <a:solidFill>
                  <a:srgbClr val="C00000"/>
                </a:solidFill>
                <a:latin typeface="Calibri" panose="020F0502020204030204" charset="0"/>
                <a:cs typeface="Calibri" panose="020F0502020204030204" charset="0"/>
                <a:sym typeface="+mn-ea"/>
              </a:rPr>
              <a:t>Customer collaboration over contract negotiation </a:t>
            </a:r>
            <a:endParaRPr lang="en-US" b="1" dirty="0" smtClean="0">
              <a:solidFill>
                <a:srgbClr val="C00000"/>
              </a:solidFill>
              <a:latin typeface="Calibri" panose="020F0502020204030204" charset="0"/>
              <a:cs typeface="Calibri" panose="020F0502020204030204" charset="0"/>
            </a:endParaRPr>
          </a:p>
          <a:p>
            <a:r>
              <a:rPr lang="en-US" b="1" dirty="0" smtClean="0">
                <a:solidFill>
                  <a:srgbClr val="C00000"/>
                </a:solidFill>
                <a:latin typeface="Calibri" panose="020F0502020204030204" charset="0"/>
                <a:cs typeface="Calibri" panose="020F0502020204030204" charset="0"/>
                <a:sym typeface="+mn-ea"/>
              </a:rPr>
              <a:t>Responding to change over following a plan </a:t>
            </a:r>
            <a:endParaRPr lang="en-US" b="1" dirty="0" smtClean="0">
              <a:solidFill>
                <a:srgbClr val="C00000"/>
              </a:solidFill>
              <a:latin typeface="Calibri" panose="020F0502020204030204" charset="0"/>
              <a:cs typeface="Calibri" panose="020F0502020204030204" charset="0"/>
            </a:endParaRPr>
          </a:p>
          <a:p>
            <a:r>
              <a:rPr lang="en-US" b="1" dirty="0" smtClean="0">
                <a:solidFill>
                  <a:srgbClr val="C00000"/>
                </a:solidFill>
                <a:latin typeface="Calibri" panose="020F0502020204030204" charset="0"/>
                <a:cs typeface="Calibri" panose="020F0502020204030204" charset="0"/>
                <a:sym typeface="+mn-ea"/>
              </a:rPr>
              <a:t>That is, while there is value in the items on the right, we value the items on the left more.</a:t>
            </a:r>
            <a:endParaRPr lang="en-US" b="1" dirty="0" smtClean="0">
              <a:solidFill>
                <a:srgbClr val="C00000"/>
              </a:solidFill>
              <a:latin typeface="Calibri" panose="020F0502020204030204" charset="0"/>
              <a:cs typeface="Calibri" panose="020F0502020204030204" charset="0"/>
            </a:endParaRPr>
          </a:p>
          <a:p>
            <a:pPr marL="0" indent="0">
              <a:buNone/>
            </a:pPr>
            <a:endParaRPr lang="en-US" b="1" dirty="0">
              <a:solidFill>
                <a:srgbClr val="C00000"/>
              </a:solidFill>
              <a:latin typeface="Calibri" panose="020F0502020204030204" charset="0"/>
              <a:cs typeface="Calibri" panose="020F0502020204030204" charset="0"/>
            </a:endParaRPr>
          </a:p>
          <a:p>
            <a:pPr marL="0" indent="0">
              <a:buNone/>
            </a:pPr>
            <a:r>
              <a:rPr lang="en-US" i="1" dirty="0" smtClean="0">
                <a:solidFill>
                  <a:srgbClr val="00B050"/>
                </a:solidFill>
                <a:sym typeface="+mn-ea"/>
              </a:rPr>
              <a:t>“Agile” is not a process – it’s a value system</a:t>
            </a:r>
            <a:endParaRPr lang="en-US" i="1" dirty="0">
              <a:solidFill>
                <a:srgbClr val="00B050"/>
              </a:solidFill>
            </a:endParaRPr>
          </a:p>
          <a:p>
            <a:pPr marL="0" indent="0">
              <a:buNone/>
            </a:pPr>
            <a:endParaRPr lang="en-US" b="1" dirty="0">
              <a:solidFill>
                <a:srgbClr val="C00000"/>
              </a:solidFill>
              <a:latin typeface="Calibri" panose="020F0502020204030204" charset="0"/>
              <a:cs typeface="Calibri" panose="020F0502020204030204" charset="0"/>
            </a:endParaRPr>
          </a:p>
          <a:p>
            <a:pPr marL="0" indent="0">
              <a:buNone/>
            </a:pPr>
            <a:endParaRPr lang="en-US" b="1" dirty="0">
              <a:solidFill>
                <a:srgbClr val="C00000"/>
              </a:solidFill>
              <a:latin typeface="Calibri" panose="020F0502020204030204" charset="0"/>
              <a:cs typeface="Calibri" panose="020F05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kern="100" dirty="0">
                <a:solidFill>
                  <a:srgbClr val="C00000"/>
                </a:solidFill>
                <a:latin typeface="Aptos Display" panose="02110004020202020204"/>
                <a:ea typeface="Calibri" panose="020F0502020204030204" charset="0"/>
                <a:cs typeface="Mangal" panose="02040503050203030202" pitchFamily="18" charset="0"/>
                <a:sym typeface="+mn-ea"/>
              </a:rPr>
              <a:t>The Agile Principles</a:t>
            </a:r>
            <a:endParaRPr lang="en-US" kern="100" dirty="0">
              <a:solidFill>
                <a:srgbClr val="C00000"/>
              </a:solidFill>
              <a:latin typeface="Aptos Display" panose="02110004020202020204"/>
              <a:ea typeface="Calibri" panose="020F0502020204030204" charset="0"/>
              <a:cs typeface="Mangal" panose="02040503050203030202" pitchFamily="18" charset="0"/>
              <a:sym typeface="+mn-ea"/>
            </a:endParaRPr>
          </a:p>
        </p:txBody>
      </p:sp>
      <p:sp>
        <p:nvSpPr>
          <p:cNvPr id="3" name="Content Placeholder 2"/>
          <p:cNvSpPr>
            <a:spLocks noGrp="1"/>
          </p:cNvSpPr>
          <p:nvPr>
            <p:ph idx="1"/>
          </p:nvPr>
        </p:nvSpPr>
        <p:spPr>
          <a:xfrm>
            <a:off x="838200" y="1691005"/>
            <a:ext cx="10771505" cy="4912360"/>
          </a:xfrm>
        </p:spPr>
        <p:txBody>
          <a:bodyPr>
            <a:normAutofit fontScale="90000"/>
          </a:bodyPr>
          <a:p>
            <a:pPr marL="457200" indent="-342900">
              <a:buFont typeface="+mj-lt"/>
              <a:buAutoNum type="arabicPeriod"/>
            </a:pPr>
            <a:r>
              <a:rPr lang="en-US" dirty="0" smtClean="0">
                <a:solidFill>
                  <a:srgbClr val="C00000"/>
                </a:solidFill>
                <a:sym typeface="+mn-ea"/>
              </a:rPr>
              <a:t>Our highest priority is to satisfy the customer through early and continuous delivery of valuable software. </a:t>
            </a:r>
            <a:endParaRPr lang="en-US" dirty="0" smtClean="0">
              <a:solidFill>
                <a:srgbClr val="C00000"/>
              </a:solidFill>
            </a:endParaRPr>
          </a:p>
          <a:p>
            <a:pPr marL="457200" indent="-342900">
              <a:buFont typeface="+mj-lt"/>
              <a:buAutoNum type="arabicPeriod"/>
            </a:pPr>
            <a:r>
              <a:rPr lang="en-US" dirty="0" smtClean="0">
                <a:solidFill>
                  <a:srgbClr val="C00000"/>
                </a:solidFill>
                <a:sym typeface="+mn-ea"/>
              </a:rPr>
              <a:t>Welcome changing requirements, even late in development. Agile processes harness change for the customer's competitive advantage. </a:t>
            </a:r>
            <a:endParaRPr lang="en-US" dirty="0" smtClean="0">
              <a:solidFill>
                <a:srgbClr val="C00000"/>
              </a:solidFill>
            </a:endParaRPr>
          </a:p>
          <a:p>
            <a:pPr marL="457200" indent="-342900">
              <a:buFont typeface="+mj-lt"/>
              <a:buAutoNum type="arabicPeriod"/>
            </a:pPr>
            <a:r>
              <a:rPr lang="en-US" dirty="0" smtClean="0">
                <a:solidFill>
                  <a:srgbClr val="C00000"/>
                </a:solidFill>
                <a:sym typeface="+mn-ea"/>
              </a:rPr>
              <a:t>Deliver working software frequently, from a couple of weeks to a couple of months, with a preference to the shorter timescale. </a:t>
            </a:r>
            <a:endParaRPr lang="en-US" dirty="0" smtClean="0">
              <a:solidFill>
                <a:srgbClr val="C00000"/>
              </a:solidFill>
            </a:endParaRPr>
          </a:p>
          <a:p>
            <a:pPr marL="457200" indent="-342900">
              <a:buFont typeface="+mj-lt"/>
              <a:buAutoNum type="arabicPeriod"/>
            </a:pPr>
            <a:r>
              <a:rPr lang="en-US" dirty="0" smtClean="0">
                <a:solidFill>
                  <a:srgbClr val="C00000"/>
                </a:solidFill>
                <a:sym typeface="+mn-ea"/>
              </a:rPr>
              <a:t>Business people and developers must work together daily throughout the project. </a:t>
            </a:r>
            <a:endParaRPr lang="en-US" dirty="0" smtClean="0">
              <a:solidFill>
                <a:srgbClr val="C00000"/>
              </a:solidFill>
            </a:endParaRPr>
          </a:p>
          <a:p>
            <a:pPr marL="457200" indent="-342900">
              <a:buFont typeface="+mj-lt"/>
              <a:buAutoNum type="arabicPeriod"/>
            </a:pPr>
            <a:r>
              <a:rPr lang="en-US" dirty="0" smtClean="0">
                <a:solidFill>
                  <a:srgbClr val="C00000"/>
                </a:solidFill>
                <a:sym typeface="+mn-ea"/>
              </a:rPr>
              <a:t>Build projects around motivated individuals. Give them the environment and support they need, and trust them to get the job done. </a:t>
            </a:r>
            <a:endParaRPr lang="en-US" dirty="0" smtClean="0">
              <a:solidFill>
                <a:srgbClr val="C00000"/>
              </a:solidFill>
            </a:endParaRPr>
          </a:p>
          <a:p>
            <a:pPr marL="457200" indent="-342900">
              <a:buFont typeface="+mj-lt"/>
              <a:buAutoNum type="arabicPeriod"/>
            </a:pPr>
            <a:r>
              <a:rPr lang="en-US" dirty="0" smtClean="0">
                <a:solidFill>
                  <a:srgbClr val="C00000"/>
                </a:solidFill>
                <a:sym typeface="+mn-ea"/>
              </a:rPr>
              <a:t>The most efficient and effective method of conveying information to and within a development team is face-to-face conversation. </a:t>
            </a:r>
            <a:endParaRPr lang="en-US" dirty="0">
              <a:solidFill>
                <a:srgbClr val="C00000"/>
              </a:solidFill>
            </a:endParaRPr>
          </a:p>
          <a:p>
            <a:pPr marL="0" indent="0">
              <a:buNone/>
            </a:pPr>
            <a:endParaRPr lang="en-US" dirty="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kern="100" dirty="0">
                <a:solidFill>
                  <a:srgbClr val="C00000"/>
                </a:solidFill>
                <a:latin typeface="Aptos Display" panose="02110004020202020204"/>
                <a:ea typeface="Calibri" panose="020F0502020204030204" charset="0"/>
                <a:cs typeface="Mangal" panose="02040503050203030202" pitchFamily="18" charset="0"/>
                <a:sym typeface="+mn-ea"/>
              </a:rPr>
              <a:t>The Agile Principles</a:t>
            </a:r>
            <a:endParaRPr lang="en-US" kern="100" dirty="0">
              <a:solidFill>
                <a:srgbClr val="C00000"/>
              </a:solidFill>
              <a:latin typeface="Aptos Display" panose="02110004020202020204"/>
              <a:ea typeface="Calibri" panose="020F0502020204030204" charset="0"/>
              <a:cs typeface="Mangal" panose="02040503050203030202" pitchFamily="18" charset="0"/>
              <a:sym typeface="+mn-ea"/>
            </a:endParaRPr>
          </a:p>
        </p:txBody>
      </p:sp>
      <p:sp>
        <p:nvSpPr>
          <p:cNvPr id="3" name="Content Placeholder 2"/>
          <p:cNvSpPr>
            <a:spLocks noGrp="1"/>
          </p:cNvSpPr>
          <p:nvPr>
            <p:ph idx="1"/>
          </p:nvPr>
        </p:nvSpPr>
        <p:spPr>
          <a:xfrm>
            <a:off x="838200" y="1691005"/>
            <a:ext cx="10771505" cy="4912360"/>
          </a:xfrm>
        </p:spPr>
        <p:txBody>
          <a:bodyPr>
            <a:normAutofit lnSpcReduction="10000"/>
          </a:bodyPr>
          <a:p>
            <a:pPr marL="628650" indent="-514350">
              <a:buFont typeface="+mj-lt"/>
              <a:buAutoNum type="arabicPeriod" startAt="7"/>
            </a:pPr>
            <a:r>
              <a:rPr lang="en-US" dirty="0" smtClean="0">
                <a:solidFill>
                  <a:srgbClr val="C00000"/>
                </a:solidFill>
                <a:latin typeface="Calibri" panose="020F0502020204030204" charset="0"/>
                <a:cs typeface="Calibri" panose="020F0502020204030204" charset="0"/>
                <a:sym typeface="+mn-ea"/>
              </a:rPr>
              <a:t>Working software is the primary measure of progress. </a:t>
            </a:r>
            <a:endParaRPr lang="en-US" dirty="0" smtClean="0">
              <a:solidFill>
                <a:srgbClr val="C00000"/>
              </a:solidFill>
              <a:latin typeface="Calibri" panose="020F0502020204030204" charset="0"/>
              <a:cs typeface="Calibri" panose="020F0502020204030204" charset="0"/>
            </a:endParaRPr>
          </a:p>
          <a:p>
            <a:pPr marL="628650" indent="-514350">
              <a:buFont typeface="+mj-lt"/>
              <a:buAutoNum type="arabicPeriod" startAt="7"/>
            </a:pPr>
            <a:r>
              <a:rPr lang="en-US" dirty="0" smtClean="0">
                <a:solidFill>
                  <a:srgbClr val="C00000"/>
                </a:solidFill>
                <a:latin typeface="Calibri" panose="020F0502020204030204" charset="0"/>
                <a:cs typeface="Calibri" panose="020F0502020204030204" charset="0"/>
                <a:sym typeface="+mn-ea"/>
              </a:rPr>
              <a:t>Agile processes promote sustainable development.  The sponsors, developers, and users should be able to maintain a constant pace indefinitely. </a:t>
            </a:r>
            <a:endParaRPr lang="en-US" dirty="0" smtClean="0">
              <a:solidFill>
                <a:srgbClr val="C00000"/>
              </a:solidFill>
              <a:latin typeface="Calibri" panose="020F0502020204030204" charset="0"/>
              <a:cs typeface="Calibri" panose="020F0502020204030204" charset="0"/>
            </a:endParaRPr>
          </a:p>
          <a:p>
            <a:pPr marL="628650" indent="-514350">
              <a:buFont typeface="+mj-lt"/>
              <a:buAutoNum type="arabicPeriod" startAt="7"/>
            </a:pPr>
            <a:r>
              <a:rPr lang="en-US" dirty="0" smtClean="0">
                <a:solidFill>
                  <a:srgbClr val="C00000"/>
                </a:solidFill>
                <a:latin typeface="Calibri" panose="020F0502020204030204" charset="0"/>
                <a:cs typeface="Calibri" panose="020F0502020204030204" charset="0"/>
                <a:sym typeface="+mn-ea"/>
              </a:rPr>
              <a:t>Continuous attention to technical excellence and good design enhances agility. </a:t>
            </a:r>
            <a:endParaRPr lang="en-US" dirty="0" smtClean="0">
              <a:solidFill>
                <a:srgbClr val="C00000"/>
              </a:solidFill>
              <a:latin typeface="Calibri" panose="020F0502020204030204" charset="0"/>
              <a:cs typeface="Calibri" panose="020F0502020204030204" charset="0"/>
            </a:endParaRPr>
          </a:p>
          <a:p>
            <a:pPr marL="628650" indent="-514350">
              <a:buFont typeface="+mj-lt"/>
              <a:buAutoNum type="arabicPeriod" startAt="7"/>
            </a:pPr>
            <a:r>
              <a:rPr lang="en-US" dirty="0" smtClean="0">
                <a:solidFill>
                  <a:srgbClr val="C00000"/>
                </a:solidFill>
                <a:latin typeface="Calibri" panose="020F0502020204030204" charset="0"/>
                <a:cs typeface="Calibri" panose="020F0502020204030204" charset="0"/>
                <a:sym typeface="+mn-ea"/>
              </a:rPr>
              <a:t>Simplicity--the art of maximizing the amount of work not done--is essential. </a:t>
            </a:r>
            <a:endParaRPr lang="en-US" dirty="0" smtClean="0">
              <a:solidFill>
                <a:srgbClr val="C00000"/>
              </a:solidFill>
              <a:latin typeface="Calibri" panose="020F0502020204030204" charset="0"/>
              <a:cs typeface="Calibri" panose="020F0502020204030204" charset="0"/>
            </a:endParaRPr>
          </a:p>
          <a:p>
            <a:pPr marL="628650" indent="-514350">
              <a:buFont typeface="+mj-lt"/>
              <a:buAutoNum type="arabicPeriod" startAt="7"/>
            </a:pPr>
            <a:r>
              <a:rPr lang="en-US" dirty="0" smtClean="0">
                <a:solidFill>
                  <a:srgbClr val="C00000"/>
                </a:solidFill>
                <a:latin typeface="Calibri" panose="020F0502020204030204" charset="0"/>
                <a:cs typeface="Calibri" panose="020F0502020204030204" charset="0"/>
                <a:sym typeface="+mn-ea"/>
              </a:rPr>
              <a:t>The best architectures, requirements, and designs emerge from self-organizing teams. </a:t>
            </a:r>
            <a:endParaRPr lang="en-US" dirty="0" smtClean="0">
              <a:solidFill>
                <a:srgbClr val="C00000"/>
              </a:solidFill>
              <a:latin typeface="Calibri" panose="020F0502020204030204" charset="0"/>
              <a:cs typeface="Calibri" panose="020F0502020204030204" charset="0"/>
            </a:endParaRPr>
          </a:p>
          <a:p>
            <a:pPr marL="628650" indent="-514350">
              <a:buFont typeface="+mj-lt"/>
              <a:buAutoNum type="arabicPeriod" startAt="7"/>
            </a:pPr>
            <a:r>
              <a:rPr lang="en-US" dirty="0" smtClean="0">
                <a:solidFill>
                  <a:srgbClr val="C00000"/>
                </a:solidFill>
                <a:latin typeface="Calibri" panose="020F0502020204030204" charset="0"/>
                <a:cs typeface="Calibri" panose="020F0502020204030204" charset="0"/>
                <a:sym typeface="+mn-ea"/>
              </a:rPr>
              <a:t>At regular intervals, the team reflects on how to become more effective, then tunes and adjusts its behavior accordingly. </a:t>
            </a:r>
            <a:endParaRPr lang="en-US" dirty="0" smtClean="0">
              <a:solidFill>
                <a:srgbClr val="C00000"/>
              </a:solidFill>
              <a:latin typeface="Calibri" panose="020F0502020204030204" charset="0"/>
              <a:cs typeface="Calibri" panose="020F0502020204030204" charset="0"/>
            </a:endParaRPr>
          </a:p>
          <a:p>
            <a:pPr marL="628650" indent="-514350">
              <a:buFont typeface="+mj-lt"/>
              <a:buAutoNum type="arabicPeriod" startAt="7"/>
            </a:pPr>
            <a:endParaRPr lang="en-US" dirty="0" smtClean="0">
              <a:solidFill>
                <a:srgbClr val="C00000"/>
              </a:solidFill>
              <a:latin typeface="Calibri" panose="020F0502020204030204" charset="0"/>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dirty="0" smtClean="0">
                <a:solidFill>
                  <a:srgbClr val="C00000"/>
                </a:solidFill>
                <a:latin typeface="Calibri" panose="020F0502020204030204" charset="0"/>
                <a:cs typeface="Calibri" panose="020F0502020204030204" charset="0"/>
                <a:sym typeface="+mn-ea"/>
              </a:rPr>
              <a:t>Agile Implementations</a:t>
            </a:r>
            <a:endParaRPr lang="en-US" kern="100" dirty="0" smtClean="0">
              <a:solidFill>
                <a:srgbClr val="C00000"/>
              </a:solidFill>
              <a:latin typeface="Calibri" panose="020F0502020204030204" charset="0"/>
              <a:ea typeface="Calibri" panose="020F0502020204030204" charset="0"/>
              <a:cs typeface="Calibri" panose="020F0502020204030204" charset="0"/>
              <a:sym typeface="+mn-ea"/>
            </a:endParaRPr>
          </a:p>
        </p:txBody>
      </p:sp>
      <p:sp>
        <p:nvSpPr>
          <p:cNvPr id="3" name="Content Placeholder 2"/>
          <p:cNvSpPr>
            <a:spLocks noGrp="1"/>
          </p:cNvSpPr>
          <p:nvPr>
            <p:ph idx="1"/>
          </p:nvPr>
        </p:nvSpPr>
        <p:spPr>
          <a:xfrm>
            <a:off x="838200" y="1691005"/>
            <a:ext cx="10771505" cy="4912360"/>
          </a:xfrm>
        </p:spPr>
        <p:txBody>
          <a:bodyPr>
            <a:normAutofit lnSpcReduction="10000"/>
          </a:bodyPr>
          <a:p>
            <a:pPr marL="628650" indent="-514350">
              <a:buFont typeface="+mj-lt"/>
              <a:buAutoNum type="arabicPeriod"/>
            </a:pPr>
            <a:r>
              <a:rPr lang="en-US" dirty="0" smtClean="0">
                <a:solidFill>
                  <a:srgbClr val="C00000"/>
                </a:solidFill>
                <a:sym typeface="+mn-ea"/>
              </a:rPr>
              <a:t>Scrum</a:t>
            </a:r>
            <a:endParaRPr lang="en-US" dirty="0" smtClean="0">
              <a:solidFill>
                <a:srgbClr val="C00000"/>
              </a:solidFill>
            </a:endParaRPr>
          </a:p>
          <a:p>
            <a:pPr marL="628650" indent="-514350">
              <a:buFont typeface="+mj-lt"/>
              <a:buAutoNum type="arabicPeriod"/>
            </a:pPr>
            <a:r>
              <a:rPr lang="en-US" dirty="0" smtClean="0">
                <a:solidFill>
                  <a:srgbClr val="C00000"/>
                </a:solidFill>
                <a:sym typeface="+mn-ea"/>
              </a:rPr>
              <a:t>Extreme Programming</a:t>
            </a:r>
            <a:endParaRPr lang="en-US" dirty="0" smtClean="0">
              <a:solidFill>
                <a:srgbClr val="C00000"/>
              </a:solidFill>
            </a:endParaRPr>
          </a:p>
          <a:p>
            <a:pPr marL="628650" indent="-514350">
              <a:buFont typeface="+mj-lt"/>
              <a:buAutoNum type="arabicPeriod"/>
            </a:pPr>
            <a:r>
              <a:rPr lang="en-US" dirty="0" smtClean="0">
                <a:solidFill>
                  <a:srgbClr val="C00000"/>
                </a:solidFill>
                <a:sym typeface="+mn-ea"/>
              </a:rPr>
              <a:t>Iterative development</a:t>
            </a:r>
            <a:endParaRPr lang="en-US" dirty="0" smtClean="0">
              <a:solidFill>
                <a:srgbClr val="C00000"/>
              </a:solidFill>
            </a:endParaRPr>
          </a:p>
          <a:p>
            <a:pPr marL="628650" indent="-514350">
              <a:buFont typeface="+mj-lt"/>
              <a:buAutoNum type="arabicPeriod"/>
            </a:pPr>
            <a:r>
              <a:rPr lang="en-US" dirty="0" smtClean="0">
                <a:solidFill>
                  <a:srgbClr val="C00000"/>
                </a:solidFill>
                <a:sym typeface="+mn-ea"/>
              </a:rPr>
              <a:t>Kanban</a:t>
            </a:r>
            <a:endParaRPr lang="en-US" dirty="0" smtClean="0">
              <a:solidFill>
                <a:srgbClr val="C00000"/>
              </a:solidFill>
            </a:endParaRPr>
          </a:p>
          <a:p>
            <a:pPr marL="628650" indent="-514350">
              <a:buFont typeface="+mj-lt"/>
              <a:buAutoNum type="arabicPeriod"/>
            </a:pPr>
            <a:r>
              <a:rPr lang="en-US" dirty="0" smtClean="0">
                <a:solidFill>
                  <a:srgbClr val="C00000"/>
                </a:solidFill>
                <a:sym typeface="+mn-ea"/>
              </a:rPr>
              <a:t>And many others</a:t>
            </a:r>
            <a:endParaRPr lang="en-US" dirty="0" smtClean="0">
              <a:solidFill>
                <a:srgbClr val="C00000"/>
              </a:solidFill>
              <a:latin typeface="Calibri" panose="020F0502020204030204" charset="0"/>
              <a:cs typeface="Calibri" panose="020F050202020403020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smtClean="0">
                <a:solidFill>
                  <a:srgbClr val="C00000"/>
                </a:solidFill>
                <a:sym typeface="+mn-ea"/>
              </a:rPr>
              <a:t>Case Study:  Building the team</a:t>
            </a:r>
            <a:endParaRPr lang="en-US" b="1" kern="100" dirty="0" smtClean="0">
              <a:solidFill>
                <a:srgbClr val="C00000"/>
              </a:solidFill>
              <a:latin typeface="Calibri" panose="020F0502020204030204" charset="0"/>
              <a:ea typeface="Calibri" panose="020F0502020204030204" charset="0"/>
              <a:cs typeface="Calibri" panose="020F0502020204030204" charset="0"/>
              <a:sym typeface="+mn-ea"/>
            </a:endParaRPr>
          </a:p>
        </p:txBody>
      </p:sp>
      <p:sp>
        <p:nvSpPr>
          <p:cNvPr id="3" name="Content Placeholder 2"/>
          <p:cNvSpPr>
            <a:spLocks noGrp="1"/>
          </p:cNvSpPr>
          <p:nvPr>
            <p:ph idx="1"/>
          </p:nvPr>
        </p:nvSpPr>
        <p:spPr>
          <a:xfrm>
            <a:off x="838200" y="1691005"/>
            <a:ext cx="10771505" cy="4912360"/>
          </a:xfrm>
        </p:spPr>
        <p:txBody>
          <a:bodyPr>
            <a:normAutofit lnSpcReduction="20000"/>
          </a:bodyPr>
          <a:p>
            <a:pPr marL="114300" indent="457200">
              <a:buFont typeface="Arial" panose="020B0604020202020204" pitchFamily="34" charset="0"/>
              <a:buNone/>
            </a:pPr>
            <a:r>
              <a:rPr lang="en-US" b="1" dirty="0" smtClean="0">
                <a:solidFill>
                  <a:srgbClr val="C00000"/>
                </a:solidFill>
                <a:sym typeface="+mn-ea"/>
              </a:rPr>
              <a:t>Relates to these principles:</a:t>
            </a:r>
            <a:endParaRPr lang="en-US" b="1" dirty="0" smtClean="0">
              <a:solidFill>
                <a:srgbClr val="C00000"/>
              </a:solidFill>
              <a:sym typeface="+mn-ea"/>
            </a:endParaRPr>
          </a:p>
          <a:p>
            <a:pPr marL="114300" indent="0">
              <a:buFont typeface="Arial" panose="020B0604020202020204" pitchFamily="34" charset="0"/>
              <a:buNone/>
            </a:pPr>
            <a:endParaRPr lang="en-US" dirty="0" smtClean="0">
              <a:solidFill>
                <a:srgbClr val="C00000"/>
              </a:solidFill>
              <a:sym typeface="+mn-ea"/>
            </a:endParaRPr>
          </a:p>
          <a:p>
            <a:pPr marL="457200" indent="-342900">
              <a:buFont typeface="Arial" panose="020B0604020202020204" pitchFamily="34" charset="0"/>
              <a:buChar char="•"/>
            </a:pPr>
            <a:r>
              <a:rPr lang="en-US" dirty="0" smtClean="0">
                <a:solidFill>
                  <a:srgbClr val="C00000"/>
                </a:solidFill>
                <a:sym typeface="+mn-ea"/>
              </a:rPr>
              <a:t>Business people and developers must work together daily throughout the project. </a:t>
            </a:r>
            <a:endParaRPr lang="en-US" dirty="0" smtClean="0">
              <a:solidFill>
                <a:srgbClr val="C00000"/>
              </a:solidFill>
            </a:endParaRPr>
          </a:p>
          <a:p>
            <a:pPr marL="457200" indent="-342900">
              <a:buFont typeface="Arial" panose="020B0604020202020204" pitchFamily="34" charset="0"/>
              <a:buChar char="•"/>
            </a:pPr>
            <a:r>
              <a:rPr lang="en-US" dirty="0" smtClean="0">
                <a:solidFill>
                  <a:srgbClr val="C00000"/>
                </a:solidFill>
                <a:sym typeface="+mn-ea"/>
              </a:rPr>
              <a:t>Build projects around motivated individuals. Give them the environment and support they need, and trust them to get the job done. </a:t>
            </a:r>
            <a:endParaRPr lang="en-US" dirty="0" smtClean="0">
              <a:solidFill>
                <a:srgbClr val="C00000"/>
              </a:solidFill>
            </a:endParaRPr>
          </a:p>
          <a:p>
            <a:pPr marL="457200" indent="-342900"/>
            <a:r>
              <a:rPr lang="en-US" dirty="0" smtClean="0">
                <a:solidFill>
                  <a:srgbClr val="C00000"/>
                </a:solidFill>
                <a:sym typeface="+mn-ea"/>
              </a:rPr>
              <a:t>The most efficient and effective method of conveying information to and within a development team is face-to-face conversation.</a:t>
            </a:r>
            <a:endParaRPr lang="en-US" dirty="0" smtClean="0">
              <a:solidFill>
                <a:srgbClr val="C00000"/>
              </a:solidFill>
            </a:endParaRPr>
          </a:p>
          <a:p>
            <a:pPr marL="457200" indent="-342900"/>
            <a:r>
              <a:rPr lang="en-US" dirty="0" smtClean="0">
                <a:solidFill>
                  <a:srgbClr val="C00000"/>
                </a:solidFill>
                <a:sym typeface="+mn-ea"/>
              </a:rPr>
              <a:t>At regular intervals, the team reflects on how to become more effective, then tunes and adjusts its behavior accordingly. </a:t>
            </a:r>
            <a:endParaRPr lang="en-US" dirty="0" smtClean="0">
              <a:solidFill>
                <a:srgbClr val="C00000"/>
              </a:solidFill>
            </a:endParaRPr>
          </a:p>
          <a:p>
            <a:pPr marL="457200" indent="-342900"/>
            <a:endParaRPr lang="en-US" dirty="0" smtClean="0">
              <a:solidFill>
                <a:srgbClr val="C00000"/>
              </a:solidFill>
            </a:endParaRPr>
          </a:p>
          <a:p>
            <a:pPr marL="457200" indent="-342900">
              <a:buFont typeface="Arial" panose="020B0604020202020204" pitchFamily="34" charset="0"/>
              <a:buChar char="•"/>
            </a:pPr>
            <a:endParaRPr lang="en-US" dirty="0" smtClean="0">
              <a:solidFill>
                <a:srgbClr val="C00000"/>
              </a:solidFill>
            </a:endParaRPr>
          </a:p>
          <a:p>
            <a:pPr>
              <a:buFont typeface="Arial" panose="020B0604020202020204" pitchFamily="34" charset="0"/>
              <a:buChar char="•"/>
            </a:pPr>
            <a:endParaRPr lang="en-US" dirty="0" smtClean="0">
              <a:solidFill>
                <a:srgbClr val="C00000"/>
              </a:solidFill>
              <a:latin typeface="Calibri" panose="020F0502020204030204" charset="0"/>
              <a:cs typeface="Calibri" panose="020F0502020204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i="1" dirty="0" smtClean="0">
                <a:solidFill>
                  <a:srgbClr val="FF0000"/>
                </a:solidFill>
                <a:latin typeface="+mn-lt"/>
              </a:rPr>
              <a:t>It takes many roles to build a K-12 analytics system…</a:t>
            </a:r>
            <a:endParaRPr lang="en-US" sz="4000" i="1" dirty="0" smtClean="0">
              <a:solidFill>
                <a:srgbClr val="FF0000"/>
              </a:solidFill>
              <a:latin typeface="+mn-lt"/>
            </a:endParaRPr>
          </a:p>
        </p:txBody>
      </p:sp>
      <p:cxnSp>
        <p:nvCxnSpPr>
          <p:cNvPr id="11" name="Straight Connector 10"/>
          <p:cNvCxnSpPr/>
          <p:nvPr/>
        </p:nvCxnSpPr>
        <p:spPr>
          <a:xfrm>
            <a:off x="5715000" y="1752600"/>
            <a:ext cx="0" cy="4343400"/>
          </a:xfrm>
          <a:prstGeom prst="line">
            <a:avLst/>
          </a:prstGeom>
        </p:spPr>
        <p:style>
          <a:lnRef idx="3">
            <a:schemeClr val="accent4"/>
          </a:lnRef>
          <a:fillRef idx="0">
            <a:schemeClr val="accent4"/>
          </a:fillRef>
          <a:effectRef idx="2">
            <a:schemeClr val="accent4"/>
          </a:effectRef>
          <a:fontRef idx="minor">
            <a:schemeClr val="tx1"/>
          </a:fontRef>
        </p:style>
      </p:cxnSp>
      <p:sp>
        <p:nvSpPr>
          <p:cNvPr id="12" name="TextBox 11"/>
          <p:cNvSpPr txBox="1"/>
          <p:nvPr/>
        </p:nvSpPr>
        <p:spPr>
          <a:xfrm>
            <a:off x="2057400" y="5867400"/>
            <a:ext cx="3352800" cy="521970"/>
          </a:xfrm>
          <a:prstGeom prst="rect">
            <a:avLst/>
          </a:prstGeom>
          <a:noFill/>
        </p:spPr>
        <p:txBody>
          <a:bodyPr wrap="square" rtlCol="0">
            <a:spAutoFit/>
          </a:bodyPr>
          <a:lstStyle/>
          <a:p>
            <a:pPr algn="ctr"/>
            <a:r>
              <a:rPr lang="en-US" sz="2800" b="1" dirty="0" smtClean="0">
                <a:solidFill>
                  <a:srgbClr val="FF0000"/>
                </a:solidFill>
              </a:rPr>
              <a:t>Education World</a:t>
            </a:r>
            <a:endParaRPr lang="en-US" sz="2800" b="1" dirty="0" smtClean="0">
              <a:solidFill>
                <a:srgbClr val="FF0000"/>
              </a:solidFill>
            </a:endParaRPr>
          </a:p>
        </p:txBody>
      </p:sp>
      <p:sp>
        <p:nvSpPr>
          <p:cNvPr id="13" name="TextBox 12"/>
          <p:cNvSpPr txBox="1"/>
          <p:nvPr/>
        </p:nvSpPr>
        <p:spPr>
          <a:xfrm>
            <a:off x="6096000" y="5867400"/>
            <a:ext cx="3352800" cy="521970"/>
          </a:xfrm>
          <a:prstGeom prst="rect">
            <a:avLst/>
          </a:prstGeom>
          <a:noFill/>
        </p:spPr>
        <p:txBody>
          <a:bodyPr wrap="square" rtlCol="0">
            <a:spAutoFit/>
          </a:bodyPr>
          <a:lstStyle/>
          <a:p>
            <a:pPr algn="ctr"/>
            <a:r>
              <a:rPr lang="en-US" sz="2800" b="1" dirty="0" smtClean="0">
                <a:solidFill>
                  <a:srgbClr val="FF0000"/>
                </a:solidFill>
              </a:rPr>
              <a:t>Technology World</a:t>
            </a:r>
            <a:endParaRPr lang="en-US" sz="2800" b="1" dirty="0" smtClean="0">
              <a:solidFill>
                <a:srgbClr val="FF0000"/>
              </a:solidFill>
            </a:endParaRPr>
          </a:p>
        </p:txBody>
      </p:sp>
      <p:sp>
        <p:nvSpPr>
          <p:cNvPr id="14" name="Rounded Rectangle 13"/>
          <p:cNvSpPr/>
          <p:nvPr/>
        </p:nvSpPr>
        <p:spPr>
          <a:xfrm>
            <a:off x="2514600" y="2057400"/>
            <a:ext cx="1828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Researchers</a:t>
            </a:r>
            <a:endParaRPr lang="en-US" dirty="0"/>
          </a:p>
        </p:txBody>
      </p:sp>
      <p:sp>
        <p:nvSpPr>
          <p:cNvPr id="15" name="Rounded Rectangle 14"/>
          <p:cNvSpPr/>
          <p:nvPr/>
        </p:nvSpPr>
        <p:spPr>
          <a:xfrm>
            <a:off x="4114800" y="2819400"/>
            <a:ext cx="2057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Business</a:t>
            </a:r>
            <a:endParaRPr lang="en-US" dirty="0" smtClean="0"/>
          </a:p>
          <a:p>
            <a:pPr algn="ctr"/>
            <a:r>
              <a:rPr lang="en-US" dirty="0" smtClean="0"/>
              <a:t>Analysts</a:t>
            </a:r>
            <a:endParaRPr lang="en-US" dirty="0"/>
          </a:p>
        </p:txBody>
      </p:sp>
      <p:sp>
        <p:nvSpPr>
          <p:cNvPr id="16" name="Rounded Rectangle 15"/>
          <p:cNvSpPr/>
          <p:nvPr/>
        </p:nvSpPr>
        <p:spPr>
          <a:xfrm>
            <a:off x="2590800" y="3657600"/>
            <a:ext cx="18288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Trainers</a:t>
            </a:r>
            <a:endParaRPr lang="en-US" dirty="0"/>
          </a:p>
        </p:txBody>
      </p:sp>
      <p:sp>
        <p:nvSpPr>
          <p:cNvPr id="17" name="Rounded Rectangle 16"/>
          <p:cNvSpPr/>
          <p:nvPr/>
        </p:nvSpPr>
        <p:spPr>
          <a:xfrm>
            <a:off x="3886200" y="4419600"/>
            <a:ext cx="23622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Support Analysts</a:t>
            </a:r>
            <a:endParaRPr lang="en-US" dirty="0"/>
          </a:p>
        </p:txBody>
      </p:sp>
      <p:sp>
        <p:nvSpPr>
          <p:cNvPr id="18" name="Rounded Rectangle 17"/>
          <p:cNvSpPr/>
          <p:nvPr/>
        </p:nvSpPr>
        <p:spPr>
          <a:xfrm>
            <a:off x="6324600" y="2057400"/>
            <a:ext cx="1828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 Modelers</a:t>
            </a:r>
            <a:endParaRPr lang="en-US" dirty="0"/>
          </a:p>
        </p:txBody>
      </p:sp>
      <p:sp>
        <p:nvSpPr>
          <p:cNvPr id="19" name="Rounded Rectangle 18"/>
          <p:cNvSpPr/>
          <p:nvPr/>
        </p:nvSpPr>
        <p:spPr>
          <a:xfrm>
            <a:off x="7848600" y="2819400"/>
            <a:ext cx="19050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System Architects</a:t>
            </a:r>
            <a:endParaRPr lang="en-US" dirty="0"/>
          </a:p>
        </p:txBody>
      </p:sp>
      <p:sp>
        <p:nvSpPr>
          <p:cNvPr id="20" name="Rounded Rectangle 19"/>
          <p:cNvSpPr/>
          <p:nvPr/>
        </p:nvSpPr>
        <p:spPr>
          <a:xfrm>
            <a:off x="6324600" y="3733800"/>
            <a:ext cx="13716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Interface Designers</a:t>
            </a:r>
            <a:endParaRPr lang="en-US" dirty="0"/>
          </a:p>
        </p:txBody>
      </p:sp>
      <p:sp>
        <p:nvSpPr>
          <p:cNvPr id="21" name="Rounded Rectangle 20"/>
          <p:cNvSpPr/>
          <p:nvPr/>
        </p:nvSpPr>
        <p:spPr>
          <a:xfrm>
            <a:off x="8077200" y="4114800"/>
            <a:ext cx="15240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Interface Developers</a:t>
            </a:r>
            <a:endParaRPr lang="en-US" dirty="0"/>
          </a:p>
        </p:txBody>
      </p:sp>
      <p:sp>
        <p:nvSpPr>
          <p:cNvPr id="22" name="Rounded Rectangle 21"/>
          <p:cNvSpPr/>
          <p:nvPr/>
        </p:nvSpPr>
        <p:spPr>
          <a:xfrm>
            <a:off x="4800600" y="5486400"/>
            <a:ext cx="18288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Managers</a:t>
            </a:r>
            <a:endParaRPr lang="en-US" dirty="0"/>
          </a:p>
        </p:txBody>
      </p:sp>
      <p:sp>
        <p:nvSpPr>
          <p:cNvPr id="23" name="Rounded Rectangle 22"/>
          <p:cNvSpPr/>
          <p:nvPr/>
        </p:nvSpPr>
        <p:spPr>
          <a:xfrm>
            <a:off x="3429000" y="4953000"/>
            <a:ext cx="18288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QA Testers</a:t>
            </a:r>
            <a:endParaRPr lang="en-US" dirty="0"/>
          </a:p>
        </p:txBody>
      </p:sp>
      <p:sp>
        <p:nvSpPr>
          <p:cNvPr id="24" name="Rounded Rectangle 23"/>
          <p:cNvSpPr/>
          <p:nvPr/>
        </p:nvSpPr>
        <p:spPr>
          <a:xfrm>
            <a:off x="7086600" y="5029200"/>
            <a:ext cx="15240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ETL Developers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i="1" dirty="0" smtClean="0">
                <a:solidFill>
                  <a:srgbClr val="FF0000"/>
                </a:solidFill>
                <a:latin typeface="+mn-lt"/>
              </a:rPr>
              <a:t>It takes many roles to build a K-12 analytics system…</a:t>
            </a:r>
            <a:endParaRPr lang="en-US" sz="4000" i="1" dirty="0" smtClean="0">
              <a:solidFill>
                <a:srgbClr val="FF0000"/>
              </a:solidFill>
              <a:latin typeface="+mn-lt"/>
            </a:endParaRPr>
          </a:p>
        </p:txBody>
      </p:sp>
      <p:cxnSp>
        <p:nvCxnSpPr>
          <p:cNvPr id="11" name="Straight Connector 10"/>
          <p:cNvCxnSpPr/>
          <p:nvPr/>
        </p:nvCxnSpPr>
        <p:spPr>
          <a:xfrm>
            <a:off x="5715000" y="1752600"/>
            <a:ext cx="0" cy="4343400"/>
          </a:xfrm>
          <a:prstGeom prst="line">
            <a:avLst/>
          </a:prstGeom>
        </p:spPr>
        <p:style>
          <a:lnRef idx="3">
            <a:schemeClr val="accent4"/>
          </a:lnRef>
          <a:fillRef idx="0">
            <a:schemeClr val="accent4"/>
          </a:fillRef>
          <a:effectRef idx="2">
            <a:schemeClr val="accent4"/>
          </a:effectRef>
          <a:fontRef idx="minor">
            <a:schemeClr val="tx1"/>
          </a:fontRef>
        </p:style>
      </p:cxnSp>
      <p:sp>
        <p:nvSpPr>
          <p:cNvPr id="12" name="TextBox 11"/>
          <p:cNvSpPr txBox="1"/>
          <p:nvPr/>
        </p:nvSpPr>
        <p:spPr>
          <a:xfrm>
            <a:off x="2057400" y="5867400"/>
            <a:ext cx="3352800" cy="521970"/>
          </a:xfrm>
          <a:prstGeom prst="rect">
            <a:avLst/>
          </a:prstGeom>
          <a:noFill/>
        </p:spPr>
        <p:txBody>
          <a:bodyPr wrap="square" rtlCol="0">
            <a:spAutoFit/>
          </a:bodyPr>
          <a:lstStyle/>
          <a:p>
            <a:pPr algn="ctr"/>
            <a:r>
              <a:rPr lang="en-US" sz="2800" b="1" dirty="0" smtClean="0">
                <a:solidFill>
                  <a:srgbClr val="FF0000"/>
                </a:solidFill>
              </a:rPr>
              <a:t>Education World</a:t>
            </a:r>
            <a:endParaRPr lang="en-US" sz="2800" b="1" dirty="0" smtClean="0">
              <a:solidFill>
                <a:srgbClr val="FF0000"/>
              </a:solidFill>
            </a:endParaRPr>
          </a:p>
        </p:txBody>
      </p:sp>
      <p:sp>
        <p:nvSpPr>
          <p:cNvPr id="13" name="TextBox 12"/>
          <p:cNvSpPr txBox="1"/>
          <p:nvPr/>
        </p:nvSpPr>
        <p:spPr>
          <a:xfrm>
            <a:off x="6096000" y="5867400"/>
            <a:ext cx="3352800" cy="521970"/>
          </a:xfrm>
          <a:prstGeom prst="rect">
            <a:avLst/>
          </a:prstGeom>
          <a:noFill/>
        </p:spPr>
        <p:txBody>
          <a:bodyPr wrap="square" rtlCol="0">
            <a:spAutoFit/>
          </a:bodyPr>
          <a:lstStyle/>
          <a:p>
            <a:pPr algn="ctr"/>
            <a:r>
              <a:rPr lang="en-US" sz="2800" b="1" dirty="0" smtClean="0">
                <a:solidFill>
                  <a:srgbClr val="FF0000"/>
                </a:solidFill>
              </a:rPr>
              <a:t>Technology World</a:t>
            </a:r>
            <a:endParaRPr lang="en-US" sz="2800" b="1" dirty="0" smtClean="0">
              <a:solidFill>
                <a:srgbClr val="FF0000"/>
              </a:solidFill>
            </a:endParaRPr>
          </a:p>
        </p:txBody>
      </p:sp>
      <p:sp>
        <p:nvSpPr>
          <p:cNvPr id="14" name="Rounded Rectangle 13"/>
          <p:cNvSpPr/>
          <p:nvPr/>
        </p:nvSpPr>
        <p:spPr>
          <a:xfrm>
            <a:off x="2514600" y="2057400"/>
            <a:ext cx="1828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Researchers</a:t>
            </a:r>
            <a:endParaRPr lang="en-US" dirty="0"/>
          </a:p>
        </p:txBody>
      </p:sp>
      <p:sp>
        <p:nvSpPr>
          <p:cNvPr id="15" name="Rounded Rectangle 14"/>
          <p:cNvSpPr/>
          <p:nvPr/>
        </p:nvSpPr>
        <p:spPr>
          <a:xfrm>
            <a:off x="4114800" y="2819400"/>
            <a:ext cx="2057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Business</a:t>
            </a:r>
            <a:endParaRPr lang="en-US" dirty="0" smtClean="0"/>
          </a:p>
          <a:p>
            <a:pPr algn="ctr"/>
            <a:r>
              <a:rPr lang="en-US" dirty="0" smtClean="0"/>
              <a:t>Analysts</a:t>
            </a:r>
            <a:endParaRPr lang="en-US" dirty="0"/>
          </a:p>
        </p:txBody>
      </p:sp>
      <p:sp>
        <p:nvSpPr>
          <p:cNvPr id="16" name="Rounded Rectangle 15"/>
          <p:cNvSpPr/>
          <p:nvPr/>
        </p:nvSpPr>
        <p:spPr>
          <a:xfrm>
            <a:off x="2590800" y="3657600"/>
            <a:ext cx="18288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Trainers</a:t>
            </a:r>
            <a:endParaRPr lang="en-US" dirty="0"/>
          </a:p>
        </p:txBody>
      </p:sp>
      <p:sp>
        <p:nvSpPr>
          <p:cNvPr id="17" name="Rounded Rectangle 16"/>
          <p:cNvSpPr/>
          <p:nvPr/>
        </p:nvSpPr>
        <p:spPr>
          <a:xfrm>
            <a:off x="3886200" y="4419600"/>
            <a:ext cx="23622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Support Analysts</a:t>
            </a:r>
            <a:endParaRPr lang="en-US" dirty="0"/>
          </a:p>
        </p:txBody>
      </p:sp>
      <p:sp>
        <p:nvSpPr>
          <p:cNvPr id="18" name="Rounded Rectangle 17"/>
          <p:cNvSpPr/>
          <p:nvPr/>
        </p:nvSpPr>
        <p:spPr>
          <a:xfrm>
            <a:off x="6324600" y="2057400"/>
            <a:ext cx="1828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 Modelers</a:t>
            </a:r>
            <a:endParaRPr lang="en-US" dirty="0"/>
          </a:p>
        </p:txBody>
      </p:sp>
      <p:sp>
        <p:nvSpPr>
          <p:cNvPr id="19" name="Rounded Rectangle 18"/>
          <p:cNvSpPr/>
          <p:nvPr/>
        </p:nvSpPr>
        <p:spPr>
          <a:xfrm>
            <a:off x="7848600" y="2819400"/>
            <a:ext cx="19050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System Architects</a:t>
            </a:r>
            <a:endParaRPr lang="en-US" dirty="0"/>
          </a:p>
        </p:txBody>
      </p:sp>
      <p:sp>
        <p:nvSpPr>
          <p:cNvPr id="20" name="Rounded Rectangle 19"/>
          <p:cNvSpPr/>
          <p:nvPr/>
        </p:nvSpPr>
        <p:spPr>
          <a:xfrm>
            <a:off x="6324600" y="3733800"/>
            <a:ext cx="13716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Interface Designers</a:t>
            </a:r>
            <a:endParaRPr lang="en-US" dirty="0"/>
          </a:p>
        </p:txBody>
      </p:sp>
      <p:sp>
        <p:nvSpPr>
          <p:cNvPr id="21" name="Rounded Rectangle 20"/>
          <p:cNvSpPr/>
          <p:nvPr/>
        </p:nvSpPr>
        <p:spPr>
          <a:xfrm>
            <a:off x="8077200" y="4114800"/>
            <a:ext cx="15240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Interface Developers</a:t>
            </a:r>
            <a:endParaRPr lang="en-US" dirty="0"/>
          </a:p>
        </p:txBody>
      </p:sp>
      <p:sp>
        <p:nvSpPr>
          <p:cNvPr id="22" name="Rounded Rectangle 21"/>
          <p:cNvSpPr/>
          <p:nvPr/>
        </p:nvSpPr>
        <p:spPr>
          <a:xfrm>
            <a:off x="4800600" y="5486400"/>
            <a:ext cx="18288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Managers</a:t>
            </a:r>
            <a:endParaRPr lang="en-US" dirty="0"/>
          </a:p>
        </p:txBody>
      </p:sp>
      <p:sp>
        <p:nvSpPr>
          <p:cNvPr id="23" name="Rounded Rectangle 22"/>
          <p:cNvSpPr/>
          <p:nvPr/>
        </p:nvSpPr>
        <p:spPr>
          <a:xfrm>
            <a:off x="3429000" y="4953000"/>
            <a:ext cx="18288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QA Testers</a:t>
            </a:r>
            <a:endParaRPr lang="en-US" dirty="0"/>
          </a:p>
        </p:txBody>
      </p:sp>
      <p:sp>
        <p:nvSpPr>
          <p:cNvPr id="24" name="Rounded Rectangle 23"/>
          <p:cNvSpPr/>
          <p:nvPr/>
        </p:nvSpPr>
        <p:spPr>
          <a:xfrm>
            <a:off x="7086600" y="5029200"/>
            <a:ext cx="15240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ETL Developers</a:t>
            </a:r>
            <a:endParaRPr lang="en-US" dirty="0"/>
          </a:p>
        </p:txBody>
      </p:sp>
      <p:sp>
        <p:nvSpPr>
          <p:cNvPr id="25" name="Rounded Rectangular Callout 24"/>
          <p:cNvSpPr/>
          <p:nvPr/>
        </p:nvSpPr>
        <p:spPr>
          <a:xfrm>
            <a:off x="1828800" y="1828800"/>
            <a:ext cx="3505200" cy="3962400"/>
          </a:xfrm>
          <a:prstGeom prst="wedgeRoundRectCallout">
            <a:avLst>
              <a:gd name="adj1" fmla="val 96542"/>
              <a:gd name="adj2" fmla="val 29533"/>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dirty="0" smtClean="0">
                <a:solidFill>
                  <a:srgbClr val="FF0000"/>
                </a:solidFill>
              </a:rPr>
              <a:t>We hired experienced private-sector technologists, who showed adaptability to different industries, to provide world- class technical skills.</a:t>
            </a:r>
            <a:endParaRPr lang="en-US" sz="2800" dirty="0" smtClean="0">
              <a:solidFill>
                <a:srgbClr val="FF00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Straight Arrow Connector 48"/>
          <p:cNvCxnSpPr>
            <a:endCxn id="14" idx="2"/>
          </p:cNvCxnSpPr>
          <p:nvPr/>
        </p:nvCxnSpPr>
        <p:spPr>
          <a:xfrm flipV="1">
            <a:off x="2590800" y="2590800"/>
            <a:ext cx="838200" cy="27432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45" name="Straight Arrow Connector 44"/>
          <p:cNvCxnSpPr/>
          <p:nvPr/>
        </p:nvCxnSpPr>
        <p:spPr>
          <a:xfrm flipV="1">
            <a:off x="3276600" y="3429000"/>
            <a:ext cx="1219200" cy="9906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sp>
        <p:nvSpPr>
          <p:cNvPr id="2" name="Title 1"/>
          <p:cNvSpPr>
            <a:spLocks noGrp="1"/>
          </p:cNvSpPr>
          <p:nvPr>
            <p:ph type="title"/>
          </p:nvPr>
        </p:nvSpPr>
        <p:spPr/>
        <p:txBody>
          <a:bodyPr/>
          <a:lstStyle/>
          <a:p>
            <a:r>
              <a:rPr lang="en-US" sz="4000" i="1" dirty="0" smtClean="0">
                <a:solidFill>
                  <a:srgbClr val="FF0000"/>
                </a:solidFill>
                <a:latin typeface="+mn-lt"/>
              </a:rPr>
              <a:t>It takes many roles to build a K-12 analytics system…</a:t>
            </a:r>
            <a:endParaRPr lang="en-US" sz="4000" i="1" dirty="0" smtClean="0">
              <a:solidFill>
                <a:srgbClr val="FF0000"/>
              </a:solidFill>
              <a:latin typeface="+mn-lt"/>
            </a:endParaRPr>
          </a:p>
        </p:txBody>
      </p:sp>
      <p:cxnSp>
        <p:nvCxnSpPr>
          <p:cNvPr id="11" name="Straight Connector 10"/>
          <p:cNvCxnSpPr/>
          <p:nvPr/>
        </p:nvCxnSpPr>
        <p:spPr>
          <a:xfrm>
            <a:off x="5715000" y="1752600"/>
            <a:ext cx="0" cy="4343400"/>
          </a:xfrm>
          <a:prstGeom prst="line">
            <a:avLst/>
          </a:prstGeom>
        </p:spPr>
        <p:style>
          <a:lnRef idx="3">
            <a:schemeClr val="accent4"/>
          </a:lnRef>
          <a:fillRef idx="0">
            <a:schemeClr val="accent4"/>
          </a:fillRef>
          <a:effectRef idx="2">
            <a:schemeClr val="accent4"/>
          </a:effectRef>
          <a:fontRef idx="minor">
            <a:schemeClr val="tx1"/>
          </a:fontRef>
        </p:style>
      </p:cxnSp>
      <p:sp>
        <p:nvSpPr>
          <p:cNvPr id="12" name="TextBox 11"/>
          <p:cNvSpPr txBox="1"/>
          <p:nvPr/>
        </p:nvSpPr>
        <p:spPr>
          <a:xfrm>
            <a:off x="2057400" y="5867400"/>
            <a:ext cx="3352800" cy="521970"/>
          </a:xfrm>
          <a:prstGeom prst="rect">
            <a:avLst/>
          </a:prstGeom>
          <a:noFill/>
        </p:spPr>
        <p:txBody>
          <a:bodyPr wrap="square" rtlCol="0">
            <a:spAutoFit/>
          </a:bodyPr>
          <a:lstStyle/>
          <a:p>
            <a:pPr algn="ctr"/>
            <a:r>
              <a:rPr lang="en-US" sz="2800" b="1" dirty="0" smtClean="0">
                <a:solidFill>
                  <a:srgbClr val="FF0000"/>
                </a:solidFill>
              </a:rPr>
              <a:t>Education World</a:t>
            </a:r>
            <a:endParaRPr lang="en-US" sz="2800" b="1" dirty="0" smtClean="0">
              <a:solidFill>
                <a:srgbClr val="FF0000"/>
              </a:solidFill>
            </a:endParaRPr>
          </a:p>
        </p:txBody>
      </p:sp>
      <p:sp>
        <p:nvSpPr>
          <p:cNvPr id="13" name="TextBox 12"/>
          <p:cNvSpPr txBox="1"/>
          <p:nvPr/>
        </p:nvSpPr>
        <p:spPr>
          <a:xfrm>
            <a:off x="6096000" y="5867400"/>
            <a:ext cx="3352800" cy="521970"/>
          </a:xfrm>
          <a:prstGeom prst="rect">
            <a:avLst/>
          </a:prstGeom>
          <a:noFill/>
        </p:spPr>
        <p:txBody>
          <a:bodyPr wrap="square" rtlCol="0">
            <a:spAutoFit/>
          </a:bodyPr>
          <a:lstStyle/>
          <a:p>
            <a:pPr algn="ctr"/>
            <a:r>
              <a:rPr lang="en-US" sz="2800" b="1" dirty="0" smtClean="0">
                <a:solidFill>
                  <a:srgbClr val="FF0000"/>
                </a:solidFill>
              </a:rPr>
              <a:t>Technology World</a:t>
            </a:r>
            <a:endParaRPr lang="en-US" sz="2800" b="1" dirty="0" smtClean="0">
              <a:solidFill>
                <a:srgbClr val="FF0000"/>
              </a:solidFill>
            </a:endParaRPr>
          </a:p>
        </p:txBody>
      </p:sp>
      <p:sp>
        <p:nvSpPr>
          <p:cNvPr id="14" name="Rounded Rectangle 13"/>
          <p:cNvSpPr/>
          <p:nvPr/>
        </p:nvSpPr>
        <p:spPr>
          <a:xfrm>
            <a:off x="2514600" y="2057400"/>
            <a:ext cx="1828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Researchers</a:t>
            </a:r>
            <a:endParaRPr lang="en-US" dirty="0"/>
          </a:p>
        </p:txBody>
      </p:sp>
      <p:sp>
        <p:nvSpPr>
          <p:cNvPr id="15" name="Rounded Rectangle 14"/>
          <p:cNvSpPr/>
          <p:nvPr/>
        </p:nvSpPr>
        <p:spPr>
          <a:xfrm>
            <a:off x="4114800" y="2819400"/>
            <a:ext cx="2057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Business</a:t>
            </a:r>
            <a:endParaRPr lang="en-US" dirty="0" smtClean="0"/>
          </a:p>
          <a:p>
            <a:pPr algn="ctr"/>
            <a:r>
              <a:rPr lang="en-US" dirty="0" smtClean="0"/>
              <a:t>Analysts</a:t>
            </a:r>
            <a:endParaRPr lang="en-US" dirty="0"/>
          </a:p>
        </p:txBody>
      </p:sp>
      <p:sp>
        <p:nvSpPr>
          <p:cNvPr id="16" name="Rounded Rectangle 15"/>
          <p:cNvSpPr/>
          <p:nvPr/>
        </p:nvSpPr>
        <p:spPr>
          <a:xfrm>
            <a:off x="2590800" y="3657600"/>
            <a:ext cx="18288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Trainers</a:t>
            </a:r>
            <a:endParaRPr lang="en-US" dirty="0"/>
          </a:p>
        </p:txBody>
      </p:sp>
      <p:sp>
        <p:nvSpPr>
          <p:cNvPr id="17" name="Rounded Rectangle 16"/>
          <p:cNvSpPr/>
          <p:nvPr/>
        </p:nvSpPr>
        <p:spPr>
          <a:xfrm>
            <a:off x="3886200" y="4419600"/>
            <a:ext cx="23622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Support Analysts</a:t>
            </a:r>
            <a:endParaRPr lang="en-US" dirty="0"/>
          </a:p>
        </p:txBody>
      </p:sp>
      <p:sp>
        <p:nvSpPr>
          <p:cNvPr id="18" name="Rounded Rectangle 17"/>
          <p:cNvSpPr/>
          <p:nvPr/>
        </p:nvSpPr>
        <p:spPr>
          <a:xfrm>
            <a:off x="6324600" y="2057400"/>
            <a:ext cx="1828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 Modelers</a:t>
            </a:r>
            <a:endParaRPr lang="en-US" dirty="0"/>
          </a:p>
        </p:txBody>
      </p:sp>
      <p:sp>
        <p:nvSpPr>
          <p:cNvPr id="19" name="Rounded Rectangle 18"/>
          <p:cNvSpPr/>
          <p:nvPr/>
        </p:nvSpPr>
        <p:spPr>
          <a:xfrm>
            <a:off x="7848600" y="2819400"/>
            <a:ext cx="19050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System Architects</a:t>
            </a:r>
            <a:endParaRPr lang="en-US" dirty="0"/>
          </a:p>
        </p:txBody>
      </p:sp>
      <p:sp>
        <p:nvSpPr>
          <p:cNvPr id="20" name="Rounded Rectangle 19"/>
          <p:cNvSpPr/>
          <p:nvPr/>
        </p:nvSpPr>
        <p:spPr>
          <a:xfrm>
            <a:off x="6324600" y="3733800"/>
            <a:ext cx="13716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Interface Designers</a:t>
            </a:r>
            <a:endParaRPr lang="en-US" dirty="0"/>
          </a:p>
        </p:txBody>
      </p:sp>
      <p:sp>
        <p:nvSpPr>
          <p:cNvPr id="21" name="Rounded Rectangle 20"/>
          <p:cNvSpPr/>
          <p:nvPr/>
        </p:nvSpPr>
        <p:spPr>
          <a:xfrm>
            <a:off x="8077200" y="4114800"/>
            <a:ext cx="15240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Interface Developers</a:t>
            </a:r>
            <a:endParaRPr lang="en-US" dirty="0"/>
          </a:p>
        </p:txBody>
      </p:sp>
      <p:sp>
        <p:nvSpPr>
          <p:cNvPr id="22" name="Rounded Rectangle 21"/>
          <p:cNvSpPr/>
          <p:nvPr/>
        </p:nvSpPr>
        <p:spPr>
          <a:xfrm>
            <a:off x="4800600" y="5486400"/>
            <a:ext cx="18288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Managers</a:t>
            </a:r>
            <a:endParaRPr lang="en-US" dirty="0"/>
          </a:p>
        </p:txBody>
      </p:sp>
      <p:sp>
        <p:nvSpPr>
          <p:cNvPr id="23" name="Rounded Rectangle 22"/>
          <p:cNvSpPr/>
          <p:nvPr/>
        </p:nvSpPr>
        <p:spPr>
          <a:xfrm>
            <a:off x="3429000" y="4953000"/>
            <a:ext cx="18288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QA Testers</a:t>
            </a:r>
            <a:endParaRPr lang="en-US" dirty="0"/>
          </a:p>
        </p:txBody>
      </p:sp>
      <p:sp>
        <p:nvSpPr>
          <p:cNvPr id="24" name="Rounded Rectangle 23"/>
          <p:cNvSpPr/>
          <p:nvPr/>
        </p:nvSpPr>
        <p:spPr>
          <a:xfrm>
            <a:off x="7086600" y="5029200"/>
            <a:ext cx="15240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ETL Developers</a:t>
            </a:r>
            <a:endParaRPr lang="en-US" dirty="0"/>
          </a:p>
        </p:txBody>
      </p:sp>
      <p:sp>
        <p:nvSpPr>
          <p:cNvPr id="25" name="Rounded Rectangle 24"/>
          <p:cNvSpPr/>
          <p:nvPr/>
        </p:nvSpPr>
        <p:spPr>
          <a:xfrm>
            <a:off x="1905000" y="2895600"/>
            <a:ext cx="1295400" cy="3810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Teachers</a:t>
            </a:r>
            <a:endParaRPr lang="en-US" dirty="0"/>
          </a:p>
        </p:txBody>
      </p:sp>
      <p:sp>
        <p:nvSpPr>
          <p:cNvPr id="26" name="Rounded Rectangle 25"/>
          <p:cNvSpPr/>
          <p:nvPr/>
        </p:nvSpPr>
        <p:spPr>
          <a:xfrm>
            <a:off x="1828800" y="4419600"/>
            <a:ext cx="1600200" cy="3810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Administrators</a:t>
            </a:r>
            <a:endParaRPr lang="en-US" dirty="0"/>
          </a:p>
        </p:txBody>
      </p:sp>
      <p:sp>
        <p:nvSpPr>
          <p:cNvPr id="27" name="Rounded Rectangle 26"/>
          <p:cNvSpPr/>
          <p:nvPr/>
        </p:nvSpPr>
        <p:spPr>
          <a:xfrm>
            <a:off x="1828800" y="5410200"/>
            <a:ext cx="1905000" cy="3810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Data Specialists</a:t>
            </a:r>
            <a:endParaRPr lang="en-US" dirty="0"/>
          </a:p>
        </p:txBody>
      </p:sp>
      <p:cxnSp>
        <p:nvCxnSpPr>
          <p:cNvPr id="29" name="Straight Arrow Connector 28"/>
          <p:cNvCxnSpPr>
            <a:stCxn id="25" idx="3"/>
            <a:endCxn id="15" idx="1"/>
          </p:cNvCxnSpPr>
          <p:nvPr/>
        </p:nvCxnSpPr>
        <p:spPr>
          <a:xfrm>
            <a:off x="3200400" y="3086100"/>
            <a:ext cx="914400" cy="381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30" name="Straight Arrow Connector 29"/>
          <p:cNvCxnSpPr/>
          <p:nvPr/>
        </p:nvCxnSpPr>
        <p:spPr>
          <a:xfrm>
            <a:off x="3124200" y="3200400"/>
            <a:ext cx="609600" cy="3810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32" name="Straight Arrow Connector 31"/>
          <p:cNvCxnSpPr>
            <a:endCxn id="23" idx="1"/>
          </p:cNvCxnSpPr>
          <p:nvPr/>
        </p:nvCxnSpPr>
        <p:spPr>
          <a:xfrm>
            <a:off x="2971800" y="4800600"/>
            <a:ext cx="457200" cy="3429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34" name="Straight Arrow Connector 33"/>
          <p:cNvCxnSpPr/>
          <p:nvPr/>
        </p:nvCxnSpPr>
        <p:spPr>
          <a:xfrm flipV="1">
            <a:off x="2895600" y="3505200"/>
            <a:ext cx="2057400" cy="19050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35" name="Straight Arrow Connector 34"/>
          <p:cNvCxnSpPr/>
          <p:nvPr/>
        </p:nvCxnSpPr>
        <p:spPr>
          <a:xfrm flipV="1">
            <a:off x="2743200" y="4038600"/>
            <a:ext cx="533400" cy="3048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36" name="Straight Arrow Connector 35"/>
          <p:cNvCxnSpPr/>
          <p:nvPr/>
        </p:nvCxnSpPr>
        <p:spPr>
          <a:xfrm>
            <a:off x="3505200" y="4572000"/>
            <a:ext cx="609600" cy="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sp>
        <p:nvSpPr>
          <p:cNvPr id="51" name="Rounded Rectangular Callout 50"/>
          <p:cNvSpPr/>
          <p:nvPr/>
        </p:nvSpPr>
        <p:spPr>
          <a:xfrm>
            <a:off x="6400800" y="1600200"/>
            <a:ext cx="3276600" cy="3962400"/>
          </a:xfrm>
          <a:prstGeom prst="wedgeRoundRectCallout">
            <a:avLst>
              <a:gd name="adj1" fmla="val -78077"/>
              <a:gd name="adj2" fmla="val 37445"/>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dirty="0" smtClean="0">
                <a:solidFill>
                  <a:srgbClr val="FF0000"/>
                </a:solidFill>
              </a:rPr>
              <a:t>We hired experienced, tech-savvy educators to provide domain expertise as researchers, analysts, trainers, testers, and support specialists</a:t>
            </a:r>
            <a:endParaRPr lang="en-US" sz="2800" dirty="0" smtClean="0">
              <a:solidFill>
                <a:srgbClr val="FF0000"/>
              </a:solidFill>
            </a:endParaRPr>
          </a:p>
        </p:txBody>
      </p:sp>
      <p:cxnSp>
        <p:nvCxnSpPr>
          <p:cNvPr id="57" name="Straight Arrow Connector 56"/>
          <p:cNvCxnSpPr/>
          <p:nvPr/>
        </p:nvCxnSpPr>
        <p:spPr>
          <a:xfrm flipV="1">
            <a:off x="2743200" y="2514600"/>
            <a:ext cx="304800" cy="3810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Key Characteristics</a:t>
            </a:r>
            <a:endParaRPr lang="en-US" dirty="0" smtClean="0">
              <a:solidFill>
                <a:srgbClr val="FF0000"/>
              </a:solidFill>
            </a:endParaRPr>
          </a:p>
        </p:txBody>
      </p:sp>
      <p:sp>
        <p:nvSpPr>
          <p:cNvPr id="3" name="Content Placeholder 2"/>
          <p:cNvSpPr>
            <a:spLocks noGrp="1"/>
          </p:cNvSpPr>
          <p:nvPr>
            <p:ph idx="1"/>
          </p:nvPr>
        </p:nvSpPr>
        <p:spPr>
          <a:xfrm>
            <a:off x="838200" y="1691005"/>
            <a:ext cx="10760075" cy="4755515"/>
          </a:xfrm>
        </p:spPr>
        <p:txBody>
          <a:bodyPr>
            <a:normAutofit/>
          </a:bodyPr>
          <a:lstStyle/>
          <a:p>
            <a:r>
              <a:rPr lang="en-US" sz="2400" b="1" dirty="0" smtClean="0">
                <a:solidFill>
                  <a:srgbClr val="FF0000"/>
                </a:solidFill>
              </a:rPr>
              <a:t>Have the “agile” mindset</a:t>
            </a:r>
            <a:endParaRPr lang="en-US" sz="2400" b="1" dirty="0" smtClean="0">
              <a:solidFill>
                <a:srgbClr val="FF0000"/>
              </a:solidFill>
            </a:endParaRPr>
          </a:p>
          <a:p>
            <a:pPr lvl="1"/>
            <a:r>
              <a:rPr lang="en-US" sz="2000" dirty="0" smtClean="0">
                <a:solidFill>
                  <a:srgbClr val="FF0000"/>
                </a:solidFill>
              </a:rPr>
              <a:t>Self-driven to quality and doing things right despite schedule pressures</a:t>
            </a:r>
            <a:endParaRPr lang="en-US" sz="2000" dirty="0" smtClean="0">
              <a:solidFill>
                <a:srgbClr val="FF0000"/>
              </a:solidFill>
            </a:endParaRPr>
          </a:p>
          <a:p>
            <a:pPr lvl="1"/>
            <a:r>
              <a:rPr lang="en-US" sz="2000" dirty="0" smtClean="0">
                <a:solidFill>
                  <a:srgbClr val="FF0000"/>
                </a:solidFill>
              </a:rPr>
              <a:t>Able to work today’s tasks while considering the big picture</a:t>
            </a:r>
            <a:endParaRPr lang="en-US" sz="2000" dirty="0" smtClean="0">
              <a:solidFill>
                <a:srgbClr val="FF0000"/>
              </a:solidFill>
            </a:endParaRPr>
          </a:p>
          <a:p>
            <a:pPr lvl="1"/>
            <a:r>
              <a:rPr lang="en-US" sz="2000" dirty="0" smtClean="0">
                <a:solidFill>
                  <a:srgbClr val="FF0000"/>
                </a:solidFill>
              </a:rPr>
              <a:t>Not phased by change and adaptation</a:t>
            </a:r>
            <a:endParaRPr lang="en-US" sz="2000" dirty="0" smtClean="0">
              <a:solidFill>
                <a:srgbClr val="FF0000"/>
              </a:solidFill>
            </a:endParaRPr>
          </a:p>
          <a:p>
            <a:pPr lvl="1"/>
            <a:r>
              <a:rPr lang="en-US" sz="2000" dirty="0" smtClean="0">
                <a:solidFill>
                  <a:srgbClr val="FF0000"/>
                </a:solidFill>
              </a:rPr>
              <a:t>Can reliably execute a test-driven process</a:t>
            </a:r>
            <a:endParaRPr lang="en-US" sz="2000" dirty="0" smtClean="0">
              <a:solidFill>
                <a:srgbClr val="FF0000"/>
              </a:solidFill>
            </a:endParaRPr>
          </a:p>
          <a:p>
            <a:pPr lvl="1"/>
            <a:r>
              <a:rPr lang="en-US" sz="2000" dirty="0">
                <a:solidFill>
                  <a:srgbClr val="FF0000"/>
                </a:solidFill>
              </a:rPr>
              <a:t>Proactive continuous </a:t>
            </a:r>
            <a:r>
              <a:rPr lang="en-US" sz="2000" dirty="0" smtClean="0">
                <a:solidFill>
                  <a:srgbClr val="FF0000"/>
                </a:solidFill>
              </a:rPr>
              <a:t>improvement</a:t>
            </a:r>
            <a:endParaRPr lang="en-US" sz="2000" dirty="0" smtClean="0">
              <a:solidFill>
                <a:srgbClr val="FF0000"/>
              </a:solidFill>
            </a:endParaRPr>
          </a:p>
          <a:p>
            <a:pPr lvl="1"/>
            <a:r>
              <a:rPr lang="en-US" sz="2000" dirty="0" smtClean="0">
                <a:solidFill>
                  <a:srgbClr val="FF0000"/>
                </a:solidFill>
              </a:rPr>
              <a:t>Thrive in a collaborative environment</a:t>
            </a:r>
            <a:endParaRPr lang="en-US" sz="2000" dirty="0" smtClean="0">
              <a:solidFill>
                <a:srgbClr val="FF0000"/>
              </a:solidFill>
            </a:endParaRPr>
          </a:p>
          <a:p>
            <a:r>
              <a:rPr lang="en-US" sz="2400" b="1" dirty="0" smtClean="0">
                <a:solidFill>
                  <a:srgbClr val="FF0000"/>
                </a:solidFill>
              </a:rPr>
              <a:t>Critical thinking skills to deal with deep data and business rule semantics</a:t>
            </a:r>
            <a:endParaRPr lang="en-US" sz="2400" b="1" dirty="0" smtClean="0">
              <a:solidFill>
                <a:srgbClr val="FF0000"/>
              </a:solidFill>
            </a:endParaRPr>
          </a:p>
          <a:p>
            <a:r>
              <a:rPr lang="en-US" sz="2400" b="1" dirty="0" smtClean="0">
                <a:solidFill>
                  <a:srgbClr val="FF0000"/>
                </a:solidFill>
              </a:rPr>
              <a:t>Experienced and expert in the underlying technologies</a:t>
            </a:r>
            <a:endParaRPr lang="en-US" sz="2400" b="1" dirty="0" smtClean="0">
              <a:solidFill>
                <a:srgbClr val="FF0000"/>
              </a:solidFill>
            </a:endParaRPr>
          </a:p>
          <a:p>
            <a:r>
              <a:rPr lang="en-US" sz="2400" b="1" dirty="0" smtClean="0">
                <a:solidFill>
                  <a:srgbClr val="FF0000"/>
                </a:solidFill>
              </a:rPr>
              <a:t>Deep experience in education data and applications</a:t>
            </a:r>
            <a:endParaRPr lang="en-US" sz="2400" b="1" dirty="0" smtClean="0">
              <a:solidFill>
                <a:srgbClr val="FF000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kern="100" dirty="0">
                <a:solidFill>
                  <a:srgbClr val="FF0000"/>
                </a:solidFill>
                <a:latin typeface="Calibri" panose="020F0502020204030204" charset="0"/>
                <a:ea typeface="Calibri" panose="020F0502020204030204" charset="0"/>
                <a:cs typeface="Calibri" panose="020F0502020204030204" charset="0"/>
                <a:sym typeface="+mn-ea"/>
              </a:rPr>
              <a:t> Early and Frequent Feedback</a:t>
            </a:r>
            <a:endParaRPr lang="en-US" kern="100" dirty="0">
              <a:solidFill>
                <a:srgbClr val="FF0000"/>
              </a:solidFill>
              <a:latin typeface="Calibri" panose="020F0502020204030204" charset="0"/>
              <a:ea typeface="Calibri" panose="020F0502020204030204" charset="0"/>
              <a:cs typeface="Calibri" panose="020F0502020204030204" charset="0"/>
              <a:sym typeface="+mn-ea"/>
            </a:endParaRPr>
          </a:p>
        </p:txBody>
      </p:sp>
      <p:sp>
        <p:nvSpPr>
          <p:cNvPr id="3" name="Content Placeholder 2"/>
          <p:cNvSpPr>
            <a:spLocks noGrp="1"/>
          </p:cNvSpPr>
          <p:nvPr>
            <p:ph idx="1"/>
          </p:nvPr>
        </p:nvSpPr>
        <p:spPr/>
        <p:txBody>
          <a:bodyPr/>
          <a:p>
            <a:pPr marL="0" indent="0">
              <a:buNone/>
            </a:pPr>
            <a:r>
              <a:rPr lang="en-US" altLang="en-US">
                <a:solidFill>
                  <a:srgbClr val="FF0000"/>
                </a:solidFill>
              </a:rPr>
              <a:t>Early and frequent feedback in agile is a core practice that involves delivering working software in short, iterative cycles to continuously get input from stakeholders and the team. </a:t>
            </a:r>
            <a:endParaRPr lang="en-US" altLang="en-US">
              <a:solidFill>
                <a:srgbClr val="FF0000"/>
              </a:solidFill>
            </a:endParaRPr>
          </a:p>
          <a:p>
            <a:pPr marL="0" indent="0">
              <a:buNone/>
            </a:pPr>
            <a:endParaRPr lang="en-US" altLang="en-US">
              <a:solidFill>
                <a:srgbClr val="FF0000"/>
              </a:solidFill>
            </a:endParaRPr>
          </a:p>
          <a:p>
            <a:pPr marL="0" indent="0">
              <a:buNone/>
            </a:pPr>
            <a:r>
              <a:rPr lang="en-US" altLang="en-US">
                <a:solidFill>
                  <a:srgbClr val="FF0000"/>
                </a:solidFill>
              </a:rPr>
              <a:t>This process allows teams to adapt to changes, prioritize high-value features, and catch misunderstandings or quality issues early when they are less expensive to fix</a:t>
            </a:r>
            <a:endParaRPr lang="en-US" altLang="en-US">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altLang="en-US" b="1">
                <a:solidFill>
                  <a:srgbClr val="FF0000"/>
                </a:solidFill>
              </a:rPr>
              <a:t>How it works</a:t>
            </a:r>
            <a:br>
              <a:rPr lang="en-US" altLang="en-US" b="1">
                <a:solidFill>
                  <a:srgbClr val="FF0000"/>
                </a:solidFill>
              </a:rPr>
            </a:br>
            <a:endParaRPr lang="en-US" altLang="en-US" b="1">
              <a:solidFill>
                <a:srgbClr val="FF0000"/>
              </a:solidFill>
            </a:endParaRPr>
          </a:p>
        </p:txBody>
      </p:sp>
      <p:sp>
        <p:nvSpPr>
          <p:cNvPr id="3" name="Content Placeholder 2"/>
          <p:cNvSpPr>
            <a:spLocks noGrp="1"/>
          </p:cNvSpPr>
          <p:nvPr>
            <p:ph idx="1"/>
          </p:nvPr>
        </p:nvSpPr>
        <p:spPr/>
        <p:txBody>
          <a:bodyPr>
            <a:normAutofit lnSpcReduction="20000"/>
          </a:bodyPr>
          <a:p>
            <a:r>
              <a:rPr lang="en-US" altLang="en-US" b="1">
                <a:solidFill>
                  <a:srgbClr val="FF0000"/>
                </a:solidFill>
              </a:rPr>
              <a:t>Short iterations:</a:t>
            </a:r>
            <a:r>
              <a:rPr lang="en-US" altLang="en-US">
                <a:solidFill>
                  <a:srgbClr val="FF0000"/>
                </a:solidFill>
              </a:rPr>
              <a:t> Instead of a long development period, agile teams work in short cycles (sprints), typically two to four weeks.</a:t>
            </a:r>
            <a:endParaRPr lang="en-US" altLang="en-US">
              <a:solidFill>
                <a:srgbClr val="FF0000"/>
              </a:solidFill>
            </a:endParaRPr>
          </a:p>
          <a:p>
            <a:r>
              <a:rPr lang="en-US" altLang="en-US" b="1">
                <a:solidFill>
                  <a:srgbClr val="FF0000"/>
                </a:solidFill>
              </a:rPr>
              <a:t>Working increments</a:t>
            </a:r>
            <a:r>
              <a:rPr lang="en-US" altLang="en-US">
                <a:solidFill>
                  <a:srgbClr val="FF0000"/>
                </a:solidFill>
              </a:rPr>
              <a:t>: At the end of each iteration, a usable, working piece of the product is delivered.</a:t>
            </a:r>
            <a:endParaRPr lang="en-US" altLang="en-US">
              <a:solidFill>
                <a:srgbClr val="FF0000"/>
              </a:solidFill>
            </a:endParaRPr>
          </a:p>
          <a:p>
            <a:r>
              <a:rPr lang="en-US" altLang="en-US" b="1">
                <a:solidFill>
                  <a:srgbClr val="FF0000"/>
                </a:solidFill>
              </a:rPr>
              <a:t>Stakeholder reviews: </a:t>
            </a:r>
            <a:r>
              <a:rPr lang="en-US" altLang="en-US">
                <a:solidFill>
                  <a:srgbClr val="FF0000"/>
                </a:solidFill>
              </a:rPr>
              <a:t>The delivery is showcased to stakeholders, who provide feedback on the functionality and alignment with business needs.</a:t>
            </a:r>
            <a:endParaRPr lang="en-US" altLang="en-US">
              <a:solidFill>
                <a:srgbClr val="FF0000"/>
              </a:solidFill>
            </a:endParaRPr>
          </a:p>
          <a:p>
            <a:r>
              <a:rPr lang="en-US" altLang="en-US" b="1">
                <a:solidFill>
                  <a:srgbClr val="FF0000"/>
                </a:solidFill>
              </a:rPr>
              <a:t>Actionable adjustments</a:t>
            </a:r>
            <a:r>
              <a:rPr lang="en-US" altLang="en-US">
                <a:solidFill>
                  <a:srgbClr val="FF0000"/>
                </a:solidFill>
              </a:rPr>
              <a:t>: This feedback is used to update the product backlog, which is then prioritized for future iterations.</a:t>
            </a:r>
            <a:endParaRPr lang="en-US" altLang="en-US">
              <a:solidFill>
                <a:srgbClr val="FF0000"/>
              </a:solidFill>
            </a:endParaRPr>
          </a:p>
          <a:p>
            <a:r>
              <a:rPr lang="en-US" altLang="en-US" b="1">
                <a:solidFill>
                  <a:srgbClr val="FF0000"/>
                </a:solidFill>
              </a:rPr>
              <a:t>Team reflection:</a:t>
            </a:r>
            <a:r>
              <a:rPr lang="en-US" altLang="en-US">
                <a:solidFill>
                  <a:srgbClr val="FF0000"/>
                </a:solidFill>
              </a:rPr>
              <a:t> The team also holds a retrospective to reflect on the process itself, identify what went well and what can be improved.</a:t>
            </a:r>
            <a:endParaRPr lang="en-US" altLang="en-US">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altLang="en-US" b="1">
                <a:solidFill>
                  <a:srgbClr val="FF0000"/>
                </a:solidFill>
              </a:rPr>
              <a:t>Key benefits</a:t>
            </a:r>
            <a:br>
              <a:rPr lang="en-US" altLang="en-US" b="1">
                <a:solidFill>
                  <a:srgbClr val="FF0000"/>
                </a:solidFill>
              </a:rPr>
            </a:br>
            <a:endParaRPr lang="en-US" altLang="en-US" b="1">
              <a:solidFill>
                <a:srgbClr val="FF0000"/>
              </a:solidFill>
            </a:endParaRPr>
          </a:p>
        </p:txBody>
      </p:sp>
      <p:sp>
        <p:nvSpPr>
          <p:cNvPr id="3" name="Content Placeholder 2"/>
          <p:cNvSpPr>
            <a:spLocks noGrp="1"/>
          </p:cNvSpPr>
          <p:nvPr>
            <p:ph idx="1"/>
          </p:nvPr>
        </p:nvSpPr>
        <p:spPr/>
        <p:txBody>
          <a:bodyPr>
            <a:normAutofit fontScale="90000" lnSpcReduction="10000"/>
          </a:bodyPr>
          <a:p>
            <a:r>
              <a:rPr lang="en-US" altLang="en-US" b="1">
                <a:solidFill>
                  <a:srgbClr val="FF0000"/>
                </a:solidFill>
              </a:rPr>
              <a:t>Higher customer satisfaction:</a:t>
            </a:r>
            <a:r>
              <a:rPr lang="en-US" altLang="en-US">
                <a:solidFill>
                  <a:srgbClr val="FF0000"/>
                </a:solidFill>
              </a:rPr>
              <a:t> The product evolves to better reflect the customer's true needs because they see and interact with it early and often.</a:t>
            </a:r>
            <a:endParaRPr lang="en-US" altLang="en-US">
              <a:solidFill>
                <a:srgbClr val="FF0000"/>
              </a:solidFill>
            </a:endParaRPr>
          </a:p>
          <a:p>
            <a:r>
              <a:rPr lang="en-US" altLang="en-US" b="1">
                <a:solidFill>
                  <a:srgbClr val="FF0000"/>
                </a:solidFill>
              </a:rPr>
              <a:t>Reduced costs:</a:t>
            </a:r>
            <a:r>
              <a:rPr lang="en-US" altLang="en-US">
                <a:solidFill>
                  <a:srgbClr val="FF0000"/>
                </a:solidFill>
              </a:rPr>
              <a:t> Issues and misunderstandings are found and fixed early in the development cycle, which is much less costly than fixing them at the end.</a:t>
            </a:r>
            <a:endParaRPr lang="en-US" altLang="en-US">
              <a:solidFill>
                <a:srgbClr val="FF0000"/>
              </a:solidFill>
            </a:endParaRPr>
          </a:p>
          <a:p>
            <a:r>
              <a:rPr lang="en-US" altLang="en-US" b="1">
                <a:solidFill>
                  <a:srgbClr val="FF0000"/>
                </a:solidFill>
              </a:rPr>
              <a:t>Focus on value</a:t>
            </a:r>
            <a:r>
              <a:rPr lang="en-US" altLang="en-US">
                <a:solidFill>
                  <a:srgbClr val="FF0000"/>
                </a:solidFill>
              </a:rPr>
              <a:t>: Teams can focus on delivering the highest-value features first, reducing project risk.</a:t>
            </a:r>
            <a:endParaRPr lang="en-US" altLang="en-US">
              <a:solidFill>
                <a:srgbClr val="FF0000"/>
              </a:solidFill>
            </a:endParaRPr>
          </a:p>
          <a:p>
            <a:r>
              <a:rPr lang="en-US" altLang="en-US" b="1">
                <a:solidFill>
                  <a:srgbClr val="FF0000"/>
                </a:solidFill>
              </a:rPr>
              <a:t>Adaptability:</a:t>
            </a:r>
            <a:r>
              <a:rPr lang="en-US" altLang="en-US">
                <a:solidFill>
                  <a:srgbClr val="FF0000"/>
                </a:solidFill>
              </a:rPr>
              <a:t> The team can easily incorporate changes and pivot direction as needed, rather than being locked into a plan from the beginning.</a:t>
            </a:r>
            <a:endParaRPr lang="en-US" altLang="en-US">
              <a:solidFill>
                <a:srgbClr val="FF0000"/>
              </a:solidFill>
            </a:endParaRPr>
          </a:p>
          <a:p>
            <a:r>
              <a:rPr lang="en-US" altLang="en-US" b="1">
                <a:solidFill>
                  <a:srgbClr val="FF0000"/>
                </a:solidFill>
              </a:rPr>
              <a:t>Continuous improvement:</a:t>
            </a:r>
            <a:r>
              <a:rPr lang="en-US" altLang="en-US">
                <a:solidFill>
                  <a:srgbClr val="FF0000"/>
                </a:solidFill>
              </a:rPr>
              <a:t> The feedback loop applies not only to the product but also to the team's workflow and processes, leading to continuous improvement.</a:t>
            </a:r>
            <a:endParaRPr lang="en-US" altLang="en-US">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altLang="en-US" b="1">
                <a:solidFill>
                  <a:srgbClr val="FF0000"/>
                </a:solidFill>
              </a:rPr>
              <a:t>Examples of feedback mechanisms</a:t>
            </a:r>
            <a:br>
              <a:rPr lang="en-US" altLang="en-US" b="1">
                <a:solidFill>
                  <a:srgbClr val="FF0000"/>
                </a:solidFill>
              </a:rPr>
            </a:br>
            <a:endParaRPr lang="en-US" altLang="en-US" b="1">
              <a:solidFill>
                <a:srgbClr val="FF0000"/>
              </a:solidFill>
            </a:endParaRPr>
          </a:p>
        </p:txBody>
      </p:sp>
      <p:sp>
        <p:nvSpPr>
          <p:cNvPr id="3" name="Content Placeholder 2"/>
          <p:cNvSpPr>
            <a:spLocks noGrp="1"/>
          </p:cNvSpPr>
          <p:nvPr>
            <p:ph idx="1"/>
          </p:nvPr>
        </p:nvSpPr>
        <p:spPr/>
        <p:txBody>
          <a:bodyPr>
            <a:normAutofit lnSpcReduction="20000"/>
          </a:bodyPr>
          <a:p>
            <a:r>
              <a:rPr lang="en-US" altLang="en-US" b="1">
                <a:solidFill>
                  <a:srgbClr val="FF0000"/>
                </a:solidFill>
              </a:rPr>
              <a:t>Sprint Review:</a:t>
            </a:r>
            <a:r>
              <a:rPr lang="en-US" altLang="en-US">
                <a:solidFill>
                  <a:srgbClr val="FF0000"/>
                </a:solidFill>
              </a:rPr>
              <a:t> A meeting at the end of each sprint to demonstrate the working software to stakeholders.</a:t>
            </a:r>
            <a:endParaRPr lang="en-US" altLang="en-US">
              <a:solidFill>
                <a:srgbClr val="FF0000"/>
              </a:solidFill>
            </a:endParaRPr>
          </a:p>
          <a:p>
            <a:r>
              <a:rPr lang="en-US" altLang="en-US" b="1">
                <a:solidFill>
                  <a:srgbClr val="FF0000"/>
                </a:solidFill>
              </a:rPr>
              <a:t>Daily Standup: </a:t>
            </a:r>
            <a:r>
              <a:rPr lang="en-US" altLang="en-US">
                <a:solidFill>
                  <a:srgbClr val="FF0000"/>
                </a:solidFill>
              </a:rPr>
              <a:t>A quick, daily meeting where team members share progress and identify blockers.</a:t>
            </a:r>
            <a:endParaRPr lang="en-US" altLang="en-US">
              <a:solidFill>
                <a:srgbClr val="FF0000"/>
              </a:solidFill>
            </a:endParaRPr>
          </a:p>
          <a:p>
            <a:r>
              <a:rPr lang="en-US" altLang="en-US" b="1">
                <a:solidFill>
                  <a:srgbClr val="FF0000"/>
                </a:solidFill>
              </a:rPr>
              <a:t>Automated testing: </a:t>
            </a:r>
            <a:r>
              <a:rPr lang="en-US" altLang="en-US">
                <a:solidFill>
                  <a:srgbClr val="FF0000"/>
                </a:solidFill>
              </a:rPr>
              <a:t>Automated tests provide immediate feedback on code quality throughout the development process.</a:t>
            </a:r>
            <a:endParaRPr lang="en-US" altLang="en-US">
              <a:solidFill>
                <a:srgbClr val="FF0000"/>
              </a:solidFill>
            </a:endParaRPr>
          </a:p>
          <a:p>
            <a:r>
              <a:rPr lang="en-US" altLang="en-US" b="1">
                <a:solidFill>
                  <a:srgbClr val="FF0000"/>
                </a:solidFill>
              </a:rPr>
              <a:t>Continuous Integration (CI)</a:t>
            </a:r>
            <a:r>
              <a:rPr lang="en-US" altLang="en-US">
                <a:solidFill>
                  <a:srgbClr val="FF0000"/>
                </a:solidFill>
              </a:rPr>
              <a:t>: A practice that integrates code changes from multiple developers into a shared repository frequently, providing rapid feedback on integration issues.</a:t>
            </a:r>
            <a:endParaRPr lang="en-US" altLang="en-US">
              <a:solidFill>
                <a:srgbClr val="FF0000"/>
              </a:solidFill>
            </a:endParaRPr>
          </a:p>
          <a:p>
            <a:r>
              <a:rPr lang="en-US" altLang="en-US" b="1">
                <a:solidFill>
                  <a:srgbClr val="FF0000"/>
                </a:solidFill>
              </a:rPr>
              <a:t>Backlog Refinement</a:t>
            </a:r>
            <a:r>
              <a:rPr lang="en-US" altLang="en-US">
                <a:solidFill>
                  <a:srgbClr val="FF0000"/>
                </a:solidFill>
              </a:rPr>
              <a:t>: An ongoing process where the team discusses and clarifies future work items. </a:t>
            </a:r>
            <a:endParaRPr lang="en-US" altLang="en-US">
              <a:solidFill>
                <a:srgbClr val="FF0000"/>
              </a:solidFill>
            </a:endParaRPr>
          </a:p>
          <a:p>
            <a:endParaRPr lang="en-US" altLang="en-US">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solidFill>
                  <a:srgbClr val="FF0000"/>
                </a:solidFill>
              </a:rPr>
              <a:t>Roles of Agile team</a:t>
            </a:r>
            <a:endParaRPr lang="en-US" altLang="en-US" b="1">
              <a:solidFill>
                <a:srgbClr val="FF0000"/>
              </a:solidFill>
            </a:endParaRPr>
          </a:p>
        </p:txBody>
      </p:sp>
      <p:sp>
        <p:nvSpPr>
          <p:cNvPr id="3" name="Content Placeholder 2"/>
          <p:cNvSpPr>
            <a:spLocks noGrp="1"/>
          </p:cNvSpPr>
          <p:nvPr>
            <p:ph idx="1"/>
          </p:nvPr>
        </p:nvSpPr>
        <p:spPr/>
        <p:txBody>
          <a:bodyPr/>
          <a:p>
            <a:pPr marL="0" indent="0">
              <a:buNone/>
            </a:pPr>
            <a:r>
              <a:rPr lang="en-US" altLang="en-US">
                <a:solidFill>
                  <a:srgbClr val="FF0000"/>
                </a:solidFill>
              </a:rPr>
              <a:t>The three core roles in an Agile team are the Product Owner, who manages the product backlog and prioritizes work based on business value; </a:t>
            </a:r>
            <a:endParaRPr lang="en-US" altLang="en-US">
              <a:solidFill>
                <a:srgbClr val="FF0000"/>
              </a:solidFill>
            </a:endParaRPr>
          </a:p>
          <a:p>
            <a:pPr marL="0" indent="0">
              <a:buNone/>
            </a:pPr>
            <a:r>
              <a:rPr lang="en-US" altLang="en-US">
                <a:solidFill>
                  <a:srgbClr val="FF0000"/>
                </a:solidFill>
              </a:rPr>
              <a:t>the Scrum Master, who acts as a servant leader to facilitate the process and remove impediments; and the Development Team, which is a self-organizing, cross-functional group that builds the product. </a:t>
            </a:r>
            <a:endParaRPr lang="en-US" altLang="en-US">
              <a:solidFill>
                <a:srgbClr val="FF0000"/>
              </a:solidFill>
            </a:endParaRPr>
          </a:p>
          <a:p>
            <a:pPr marL="0" indent="0">
              <a:buNone/>
            </a:pPr>
            <a:r>
              <a:rPr lang="en-US" altLang="en-US">
                <a:solidFill>
                  <a:srgbClr val="FF0000"/>
                </a:solidFill>
              </a:rPr>
              <a:t>These roles work together to deliver value through iterative cycles and continuous improvement.</a:t>
            </a:r>
            <a:endParaRPr lang="en-US" altLang="en-US">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solidFill>
                  <a:srgbClr val="FF0000"/>
                </a:solidFill>
              </a:rPr>
              <a:t>Roles of Agile team</a:t>
            </a:r>
            <a:endParaRPr lang="en-US" altLang="en-US" b="1">
              <a:solidFill>
                <a:srgbClr val="FF0000"/>
              </a:solidFill>
            </a:endParaRPr>
          </a:p>
        </p:txBody>
      </p:sp>
      <p:sp>
        <p:nvSpPr>
          <p:cNvPr id="3" name="Content Placeholder 2"/>
          <p:cNvSpPr>
            <a:spLocks noGrp="1"/>
          </p:cNvSpPr>
          <p:nvPr>
            <p:ph idx="1"/>
          </p:nvPr>
        </p:nvSpPr>
        <p:spPr/>
        <p:txBody>
          <a:bodyPr/>
          <a:p>
            <a:pPr marL="0" indent="0">
              <a:buNone/>
            </a:pPr>
            <a:r>
              <a:rPr lang="en-US" altLang="en-US" b="1">
                <a:solidFill>
                  <a:srgbClr val="FF0000"/>
                </a:solidFill>
              </a:rPr>
              <a:t>Product Owner</a:t>
            </a:r>
            <a:endParaRPr lang="en-US" altLang="en-US" b="1">
              <a:solidFill>
                <a:srgbClr val="FF0000"/>
              </a:solidFill>
            </a:endParaRPr>
          </a:p>
          <a:p>
            <a:r>
              <a:rPr lang="en-US" altLang="en-US">
                <a:solidFill>
                  <a:srgbClr val="FF0000"/>
                </a:solidFill>
              </a:rPr>
              <a:t>Defines and prioritizes the product backlog based on business value.</a:t>
            </a:r>
            <a:endParaRPr lang="en-US" altLang="en-US">
              <a:solidFill>
                <a:srgbClr val="FF0000"/>
              </a:solidFill>
            </a:endParaRPr>
          </a:p>
          <a:p>
            <a:r>
              <a:rPr lang="en-US" altLang="en-US">
                <a:solidFill>
                  <a:srgbClr val="FF0000"/>
                </a:solidFill>
              </a:rPr>
              <a:t>Gathers and refines customer requirements.</a:t>
            </a:r>
            <a:endParaRPr lang="en-US" altLang="en-US">
              <a:solidFill>
                <a:srgbClr val="FF0000"/>
              </a:solidFill>
            </a:endParaRPr>
          </a:p>
          <a:p>
            <a:r>
              <a:rPr lang="en-US" altLang="en-US">
                <a:solidFill>
                  <a:srgbClr val="FF0000"/>
                </a:solidFill>
              </a:rPr>
              <a:t>Collaborates with stakeholders to set goals and ensures the team is aligned with business objectives.</a:t>
            </a:r>
            <a:endParaRPr lang="en-US" altLang="en-US">
              <a:solidFill>
                <a:srgbClr val="FF0000"/>
              </a:solidFill>
            </a:endParaRPr>
          </a:p>
          <a:p>
            <a:r>
              <a:rPr lang="en-US" altLang="en-US">
                <a:solidFill>
                  <a:srgbClr val="FF0000"/>
                </a:solidFill>
              </a:rPr>
              <a:t>Acts as the voice of the customer to the team. </a:t>
            </a:r>
            <a:endParaRPr lang="en-US" altLang="en-US">
              <a:solidFill>
                <a:srgbClr val="FF0000"/>
              </a:solidFill>
            </a:endParaRPr>
          </a:p>
          <a:p>
            <a:pPr marL="0" indent="0">
              <a:buNone/>
            </a:pPr>
            <a:endParaRPr lang="en-US" altLang="en-US">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solidFill>
                  <a:srgbClr val="FF0000"/>
                </a:solidFill>
              </a:rPr>
              <a:t>Roles of Agile team</a:t>
            </a:r>
            <a:endParaRPr lang="en-US" altLang="en-US" b="1">
              <a:solidFill>
                <a:srgbClr val="FF0000"/>
              </a:solidFill>
            </a:endParaRPr>
          </a:p>
        </p:txBody>
      </p:sp>
      <p:sp>
        <p:nvSpPr>
          <p:cNvPr id="3" name="Content Placeholder 2"/>
          <p:cNvSpPr>
            <a:spLocks noGrp="1"/>
          </p:cNvSpPr>
          <p:nvPr>
            <p:ph idx="1"/>
          </p:nvPr>
        </p:nvSpPr>
        <p:spPr/>
        <p:txBody>
          <a:bodyPr/>
          <a:p>
            <a:pPr marL="0" indent="0">
              <a:buNone/>
            </a:pPr>
            <a:r>
              <a:rPr lang="en-US" altLang="en-US" b="1">
                <a:solidFill>
                  <a:srgbClr val="FF0000"/>
                </a:solidFill>
              </a:rPr>
              <a:t>Scrum Master</a:t>
            </a:r>
            <a:endParaRPr lang="en-US" altLang="en-US" b="1">
              <a:solidFill>
                <a:srgbClr val="FF0000"/>
              </a:solidFill>
            </a:endParaRPr>
          </a:p>
          <a:p>
            <a:r>
              <a:rPr lang="en-US" altLang="en-US">
                <a:solidFill>
                  <a:srgbClr val="FF0000"/>
                </a:solidFill>
              </a:rPr>
              <a:t>Facilitates Agile ceremonies and helps the team adhere to its principles.</a:t>
            </a:r>
            <a:endParaRPr lang="en-US" altLang="en-US">
              <a:solidFill>
                <a:srgbClr val="FF0000"/>
              </a:solidFill>
            </a:endParaRPr>
          </a:p>
          <a:p>
            <a:r>
              <a:rPr lang="en-US" altLang="en-US">
                <a:solidFill>
                  <a:srgbClr val="FF0000"/>
                </a:solidFill>
              </a:rPr>
              <a:t>Removes obstacles and impediments that block the team's progress.</a:t>
            </a:r>
            <a:endParaRPr lang="en-US" altLang="en-US">
              <a:solidFill>
                <a:srgbClr val="FF0000"/>
              </a:solidFill>
            </a:endParaRPr>
          </a:p>
          <a:p>
            <a:r>
              <a:rPr lang="en-US" altLang="en-US">
                <a:solidFill>
                  <a:srgbClr val="FF0000"/>
                </a:solidFill>
              </a:rPr>
              <a:t>Coaches the team in self-organization and cross-functionality.</a:t>
            </a:r>
            <a:endParaRPr lang="en-US" altLang="en-US">
              <a:solidFill>
                <a:srgbClr val="FF0000"/>
              </a:solidFill>
            </a:endParaRPr>
          </a:p>
          <a:p>
            <a:r>
              <a:rPr lang="en-US" altLang="en-US">
                <a:solidFill>
                  <a:srgbClr val="FF0000"/>
                </a:solidFill>
              </a:rPr>
              <a:t>Protects the team from external distractions and interferences.</a:t>
            </a:r>
            <a:endParaRPr lang="en-US" altLang="en-US">
              <a:solidFill>
                <a:srgbClr val="FF0000"/>
              </a:solidFill>
            </a:endParaRPr>
          </a:p>
          <a:p>
            <a:r>
              <a:rPr lang="en-US" altLang="en-US">
                <a:solidFill>
                  <a:srgbClr val="FF0000"/>
                </a:solidFill>
              </a:rPr>
              <a:t>Acts as a servant leader, empowering the team rather than commanding them. </a:t>
            </a:r>
            <a:endParaRPr lang="en-US" altLang="en-US">
              <a:solidFill>
                <a:srgbClr val="FF0000"/>
              </a:solidFill>
            </a:endParaRPr>
          </a:p>
          <a:p>
            <a:pPr marL="0" indent="0">
              <a:buNone/>
            </a:pPr>
            <a:endParaRPr lang="en-US" altLang="en-US">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solidFill>
                  <a:srgbClr val="FF0000"/>
                </a:solidFill>
              </a:rPr>
              <a:t>Roles of Agile team</a:t>
            </a:r>
            <a:endParaRPr lang="en-US" altLang="en-US" b="1">
              <a:solidFill>
                <a:srgbClr val="FF0000"/>
              </a:solidFill>
            </a:endParaRPr>
          </a:p>
        </p:txBody>
      </p:sp>
      <p:sp>
        <p:nvSpPr>
          <p:cNvPr id="3" name="Content Placeholder 2"/>
          <p:cNvSpPr>
            <a:spLocks noGrp="1"/>
          </p:cNvSpPr>
          <p:nvPr>
            <p:ph idx="1"/>
          </p:nvPr>
        </p:nvSpPr>
        <p:spPr/>
        <p:txBody>
          <a:bodyPr/>
          <a:p>
            <a:pPr marL="0" indent="0">
              <a:buNone/>
            </a:pPr>
            <a:r>
              <a:rPr lang="en-US" altLang="en-US" b="1">
                <a:solidFill>
                  <a:srgbClr val="FF0000"/>
                </a:solidFill>
              </a:rPr>
              <a:t>Development Team</a:t>
            </a:r>
            <a:endParaRPr lang="en-US" altLang="en-US" b="1">
              <a:solidFill>
                <a:srgbClr val="FF0000"/>
              </a:solidFill>
            </a:endParaRPr>
          </a:p>
          <a:p>
            <a:r>
              <a:rPr lang="en-US" altLang="en-US">
                <a:solidFill>
                  <a:srgbClr val="FF0000"/>
                </a:solidFill>
              </a:rPr>
              <a:t>A self-organizing, cross-functional group of individuals who perform the actual work of developing the product.</a:t>
            </a:r>
            <a:endParaRPr lang="en-US" altLang="en-US">
              <a:solidFill>
                <a:srgbClr val="FF0000"/>
              </a:solidFill>
            </a:endParaRPr>
          </a:p>
          <a:p>
            <a:r>
              <a:rPr lang="en-US" altLang="en-US">
                <a:solidFill>
                  <a:srgbClr val="FF0000"/>
                </a:solidFill>
              </a:rPr>
              <a:t>Collaborates to produce high-quality work during each iteration (sprint).</a:t>
            </a:r>
            <a:endParaRPr lang="en-US" altLang="en-US">
              <a:solidFill>
                <a:srgbClr val="FF0000"/>
              </a:solidFill>
            </a:endParaRPr>
          </a:p>
          <a:p>
            <a:r>
              <a:rPr lang="en-US" altLang="en-US">
                <a:solidFill>
                  <a:srgbClr val="FF0000"/>
                </a:solidFill>
              </a:rPr>
              <a:t>Works together to create and deliver the product increment.</a:t>
            </a:r>
            <a:endParaRPr lang="en-US" altLang="en-US">
              <a:solidFill>
                <a:srgbClr val="FF0000"/>
              </a:solidFill>
            </a:endParaRPr>
          </a:p>
          <a:p>
            <a:r>
              <a:rPr lang="en-US" altLang="en-US">
                <a:solidFill>
                  <a:srgbClr val="FF0000"/>
                </a:solidFill>
              </a:rPr>
              <a:t>Members may include developers, testers, designers, writers, and other specialists as needed.</a:t>
            </a:r>
            <a:endParaRPr lang="en-US" altLang="en-US">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descr="C:\Documents and Settings\warnera\My Documents\_My Work Files\Pictures\MIS2012\Fotolia_21565137_M.jpg"/>
          <p:cNvPicPr>
            <a:picLocks noChangeAspect="1" noChangeArrowheads="1"/>
          </p:cNvPicPr>
          <p:nvPr/>
        </p:nvPicPr>
        <p:blipFill>
          <a:blip r:embed="rId1" cstate="print"/>
          <a:srcRect/>
          <a:stretch>
            <a:fillRect/>
          </a:stretch>
        </p:blipFill>
        <p:spPr bwMode="auto">
          <a:xfrm>
            <a:off x="1524000" y="3124200"/>
            <a:ext cx="4572000" cy="3049881"/>
          </a:xfrm>
          <a:prstGeom prst="rect">
            <a:avLst/>
          </a:prstGeom>
          <a:noFill/>
        </p:spPr>
      </p:pic>
      <p:sp>
        <p:nvSpPr>
          <p:cNvPr id="2" name="Title 1"/>
          <p:cNvSpPr>
            <a:spLocks noGrp="1"/>
          </p:cNvSpPr>
          <p:nvPr>
            <p:ph type="title"/>
          </p:nvPr>
        </p:nvSpPr>
        <p:spPr>
          <a:xfrm>
            <a:off x="1981200" y="274638"/>
            <a:ext cx="7620000" cy="868362"/>
          </a:xfrm>
        </p:spPr>
        <p:txBody>
          <a:bodyPr/>
          <a:lstStyle/>
          <a:p>
            <a:r>
              <a:rPr lang="en-US" b="1" dirty="0" smtClean="0">
                <a:solidFill>
                  <a:srgbClr val="FF0000"/>
                </a:solidFill>
              </a:rPr>
              <a:t>Reveal Team Building</a:t>
            </a:r>
            <a:endParaRPr lang="en-US" b="1" dirty="0" smtClean="0">
              <a:solidFill>
                <a:srgbClr val="FF0000"/>
              </a:solidFill>
            </a:endParaRPr>
          </a:p>
        </p:txBody>
      </p:sp>
      <p:sp>
        <p:nvSpPr>
          <p:cNvPr id="3" name="Content Placeholder 2"/>
          <p:cNvSpPr>
            <a:spLocks noGrp="1"/>
          </p:cNvSpPr>
          <p:nvPr>
            <p:ph idx="1"/>
          </p:nvPr>
        </p:nvSpPr>
        <p:spPr>
          <a:xfrm>
            <a:off x="1828800" y="1143000"/>
            <a:ext cx="7620000" cy="2286000"/>
          </a:xfrm>
        </p:spPr>
        <p:txBody>
          <a:bodyPr>
            <a:normAutofit/>
          </a:bodyPr>
          <a:lstStyle/>
          <a:p>
            <a:r>
              <a:rPr lang="en-US" dirty="0" smtClean="0">
                <a:solidFill>
                  <a:srgbClr val="FF0000"/>
                </a:solidFill>
              </a:rPr>
              <a:t>Upon joining the project, an excellent multi-functional team had already been assembled </a:t>
            </a:r>
            <a:endParaRPr lang="en-US" dirty="0" smtClean="0">
              <a:solidFill>
                <a:srgbClr val="FF0000"/>
              </a:solidFill>
            </a:endParaRPr>
          </a:p>
          <a:p>
            <a:r>
              <a:rPr lang="en-US" dirty="0" smtClean="0">
                <a:solidFill>
                  <a:srgbClr val="FF0000"/>
                </a:solidFill>
              </a:rPr>
              <a:t>But existing project management and team-building practices were ineffective, and there were many divisive influences affecting the team</a:t>
            </a:r>
            <a:endParaRPr lang="en-US" dirty="0" smtClean="0">
              <a:solidFill>
                <a:srgbClr val="FF0000"/>
              </a:solidFill>
            </a:endParaRPr>
          </a:p>
          <a:p>
            <a:endParaRPr lang="en-US" dirty="0" smtClean="0">
              <a:solidFill>
                <a:srgbClr val="FF0000"/>
              </a:solidFill>
            </a:endParaRPr>
          </a:p>
        </p:txBody>
      </p:sp>
      <p:sp>
        <p:nvSpPr>
          <p:cNvPr id="6" name="TextBox 5"/>
          <p:cNvSpPr txBox="1"/>
          <p:nvPr/>
        </p:nvSpPr>
        <p:spPr>
          <a:xfrm>
            <a:off x="6248400" y="3072348"/>
            <a:ext cx="3429000" cy="3784600"/>
          </a:xfrm>
          <a:prstGeom prst="rect">
            <a:avLst/>
          </a:prstGeom>
          <a:noFill/>
        </p:spPr>
        <p:txBody>
          <a:bodyPr wrap="square" rtlCol="0">
            <a:spAutoFit/>
          </a:bodyPr>
          <a:lstStyle/>
          <a:p>
            <a:r>
              <a:rPr lang="en-US" sz="2400" i="1" dirty="0" smtClean="0">
                <a:solidFill>
                  <a:srgbClr val="FF0000"/>
                </a:solidFill>
              </a:rPr>
              <a:t>We addressed the divisive influences.  However, there was still an “us vs. them” problem between the educators and technologists.  We needed a way to manage the project that promoted teamwork.</a:t>
            </a:r>
            <a:endParaRPr lang="en-US" sz="2400" i="1" dirty="0" smtClean="0">
              <a:solidFill>
                <a:srgbClr val="FF0000"/>
              </a:solidFill>
            </a:endParaRPr>
          </a:p>
          <a:p>
            <a:endParaRPr lang="en-US" sz="2400" i="1" dirty="0" smtClean="0">
              <a:solidFill>
                <a:srgbClr val="FF0000"/>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b="1" dirty="0" smtClean="0">
                <a:solidFill>
                  <a:srgbClr val="FF0000"/>
                </a:solidFill>
              </a:rPr>
              <a:t>Agile Results on Reveal</a:t>
            </a:r>
            <a:endParaRPr lang="en-US" b="1" dirty="0" smtClean="0">
              <a:solidFill>
                <a:srgbClr val="FF0000"/>
              </a:solidFill>
            </a:endParaRPr>
          </a:p>
        </p:txBody>
      </p:sp>
      <p:sp>
        <p:nvSpPr>
          <p:cNvPr id="8" name="Content Placeholder 7"/>
          <p:cNvSpPr>
            <a:spLocks noGrp="1"/>
          </p:cNvSpPr>
          <p:nvPr>
            <p:ph idx="1"/>
          </p:nvPr>
        </p:nvSpPr>
        <p:spPr>
          <a:xfrm>
            <a:off x="646430" y="1485265"/>
            <a:ext cx="11036935" cy="4692015"/>
          </a:xfrm>
        </p:spPr>
        <p:txBody>
          <a:bodyPr>
            <a:noAutofit/>
          </a:bodyPr>
          <a:lstStyle/>
          <a:p>
            <a:r>
              <a:rPr lang="en-US" sz="2300" dirty="0" smtClean="0">
                <a:solidFill>
                  <a:srgbClr val="FF0000"/>
                </a:solidFill>
              </a:rPr>
              <a:t>We turned to Agile principles and Scrum to help solve the problem.</a:t>
            </a:r>
            <a:endParaRPr lang="en-US" sz="2300" dirty="0" smtClean="0">
              <a:solidFill>
                <a:srgbClr val="FF0000"/>
              </a:solidFill>
            </a:endParaRPr>
          </a:p>
          <a:p>
            <a:r>
              <a:rPr lang="en-US" sz="2300" dirty="0" smtClean="0">
                <a:solidFill>
                  <a:srgbClr val="FF0000"/>
                </a:solidFill>
              </a:rPr>
              <a:t>Cross-functional teams were formed. </a:t>
            </a:r>
            <a:endParaRPr lang="en-US" sz="2300" dirty="0" smtClean="0">
              <a:solidFill>
                <a:srgbClr val="FF0000"/>
              </a:solidFill>
            </a:endParaRPr>
          </a:p>
          <a:p>
            <a:r>
              <a:rPr lang="en-US" sz="2300" dirty="0" smtClean="0">
                <a:solidFill>
                  <a:srgbClr val="FF0000"/>
                </a:solidFill>
              </a:rPr>
              <a:t>The teams were given a goal and timeframe in regular intervals.</a:t>
            </a:r>
            <a:endParaRPr lang="en-US" sz="2300" dirty="0" smtClean="0">
              <a:solidFill>
                <a:srgbClr val="FF0000"/>
              </a:solidFill>
            </a:endParaRPr>
          </a:p>
          <a:p>
            <a:r>
              <a:rPr lang="en-US" sz="2300" dirty="0" smtClean="0">
                <a:solidFill>
                  <a:srgbClr val="FF0000"/>
                </a:solidFill>
              </a:rPr>
              <a:t>They were self-organizing - no pre-defined leader or roles.</a:t>
            </a:r>
            <a:endParaRPr lang="en-US" sz="2300" dirty="0" smtClean="0">
              <a:solidFill>
                <a:srgbClr val="FF0000"/>
              </a:solidFill>
            </a:endParaRPr>
          </a:p>
          <a:p>
            <a:r>
              <a:rPr lang="en-US" sz="2300" dirty="0" smtClean="0">
                <a:solidFill>
                  <a:srgbClr val="FF0000"/>
                </a:solidFill>
              </a:rPr>
              <a:t>We abandoned detailed specifications in favor of face-to-face collaboration and communication. (Documentation was done after the fact, and reflected the software as-built.)</a:t>
            </a:r>
            <a:endParaRPr lang="en-US" sz="2300" dirty="0" smtClean="0">
              <a:solidFill>
                <a:srgbClr val="FF0000"/>
              </a:solidFill>
            </a:endParaRPr>
          </a:p>
          <a:p>
            <a:r>
              <a:rPr lang="en-US" sz="2300" dirty="0" smtClean="0">
                <a:solidFill>
                  <a:srgbClr val="FF0000"/>
                </a:solidFill>
              </a:rPr>
              <a:t>We kept the focus on the end user, and educational outcomes.</a:t>
            </a:r>
            <a:endParaRPr lang="en-US" sz="2300" dirty="0" smtClean="0">
              <a:solidFill>
                <a:srgbClr val="FF0000"/>
              </a:solidFill>
            </a:endParaRPr>
          </a:p>
          <a:p>
            <a:r>
              <a:rPr lang="en-US" sz="2300" dirty="0" smtClean="0">
                <a:solidFill>
                  <a:srgbClr val="FF0000"/>
                </a:solidFill>
              </a:rPr>
              <a:t>They reflected on their progress and opportunities at regular intervals.</a:t>
            </a:r>
            <a:endParaRPr lang="en-US" sz="2300" dirty="0" smtClean="0">
              <a:solidFill>
                <a:srgbClr val="FF0000"/>
              </a:solidFill>
            </a:endParaRPr>
          </a:p>
          <a:p>
            <a:r>
              <a:rPr lang="en-US" sz="2300" dirty="0" smtClean="0">
                <a:solidFill>
                  <a:srgbClr val="FF0000"/>
                </a:solidFill>
              </a:rPr>
              <a:t>Soon, the teams began to understand the challenges they each faced, and how they could better collaborate to build great software quickly and effectively.  </a:t>
            </a:r>
            <a:endParaRPr lang="en-US" sz="2300" dirty="0" smtClean="0">
              <a:solidFill>
                <a:srgbClr val="FF0000"/>
              </a:solidFill>
            </a:endParaRPr>
          </a:p>
          <a:p>
            <a:r>
              <a:rPr lang="en-US" sz="2300" dirty="0" smtClean="0">
                <a:solidFill>
                  <a:srgbClr val="FF0000"/>
                </a:solidFill>
              </a:rPr>
              <a:t>A high-functioning team was born!</a:t>
            </a:r>
            <a:endParaRPr lang="en-US" sz="2300" dirty="0" smtClean="0">
              <a:solidFill>
                <a:srgbClr val="FF000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04800"/>
            <a:ext cx="7620000" cy="1143000"/>
          </a:xfrm>
        </p:spPr>
        <p:txBody>
          <a:bodyPr/>
          <a:lstStyle/>
          <a:p>
            <a:r>
              <a:rPr lang="en-US" sz="4400" b="1" dirty="0" smtClean="0">
                <a:solidFill>
                  <a:srgbClr val="FF0000"/>
                </a:solidFill>
              </a:rPr>
              <a:t>Case Study:  Managing the team</a:t>
            </a:r>
            <a:endParaRPr lang="en-US" sz="4400" b="1" dirty="0" smtClean="0">
              <a:solidFill>
                <a:srgbClr val="FF0000"/>
              </a:solidFill>
            </a:endParaRPr>
          </a:p>
        </p:txBody>
      </p:sp>
      <p:sp>
        <p:nvSpPr>
          <p:cNvPr id="3" name="Text Placeholder 2"/>
          <p:cNvSpPr>
            <a:spLocks noGrp="1"/>
          </p:cNvSpPr>
          <p:nvPr>
            <p:ph idx="1"/>
          </p:nvPr>
        </p:nvSpPr>
        <p:spPr>
          <a:xfrm>
            <a:off x="1874520" y="2362200"/>
            <a:ext cx="7620000" cy="2514600"/>
          </a:xfrm>
        </p:spPr>
        <p:txBody>
          <a:bodyPr vert="horz" lIns="91440" tIns="45720" rIns="91440" bIns="45720" rtlCol="0" anchor="b">
            <a:noAutofit/>
          </a:bodyPr>
          <a:lstStyle/>
          <a:p>
            <a:pPr>
              <a:buFont typeface="Arial" panose="020B0604020202020204" pitchFamily="34" charset="0"/>
              <a:buChar char="•"/>
            </a:pPr>
            <a:r>
              <a:rPr lang="en-US" sz="2000" dirty="0" smtClean="0">
                <a:solidFill>
                  <a:srgbClr val="FF0000"/>
                </a:solidFill>
              </a:rPr>
              <a:t>Deliver working software frequently, from a couple of weeks to a couple of months, with a preference to the shorter timescale. </a:t>
            </a:r>
            <a:endParaRPr lang="en-US" sz="2000" dirty="0" smtClean="0">
              <a:solidFill>
                <a:srgbClr val="FF0000"/>
              </a:solidFill>
            </a:endParaRPr>
          </a:p>
          <a:p>
            <a:pPr>
              <a:buFont typeface="Arial" panose="020B0604020202020204" pitchFamily="34" charset="0"/>
              <a:buChar char="•"/>
            </a:pPr>
            <a:r>
              <a:rPr lang="en-US" sz="2000" dirty="0" smtClean="0">
                <a:solidFill>
                  <a:srgbClr val="FF0000"/>
                </a:solidFill>
              </a:rPr>
              <a:t>Working software is the primary measure of progress.</a:t>
            </a:r>
            <a:endParaRPr lang="en-US" sz="2000" dirty="0" smtClean="0">
              <a:solidFill>
                <a:srgbClr val="FF0000"/>
              </a:solidFill>
            </a:endParaRPr>
          </a:p>
          <a:p>
            <a:r>
              <a:rPr lang="en-US" sz="2000" dirty="0" smtClean="0">
                <a:solidFill>
                  <a:srgbClr val="FF0000"/>
                </a:solidFill>
              </a:rPr>
              <a:t>Welcome changing requirements, even late in development. Agile processes harness change for the customer's competitive advantage. </a:t>
            </a:r>
            <a:endParaRPr lang="en-US" sz="2000" dirty="0" smtClean="0">
              <a:solidFill>
                <a:srgbClr val="FF0000"/>
              </a:solidFill>
            </a:endParaRPr>
          </a:p>
          <a:p>
            <a:r>
              <a:rPr lang="en-US" sz="2000" dirty="0" smtClean="0">
                <a:solidFill>
                  <a:srgbClr val="FF0000"/>
                </a:solidFill>
              </a:rPr>
              <a:t> The most efficient and effective method of conveying information to and within a development team is face-to-face conversation. </a:t>
            </a:r>
            <a:endParaRPr lang="en-US" sz="2000" dirty="0" smtClean="0">
              <a:solidFill>
                <a:srgbClr val="FF0000"/>
              </a:solidFill>
            </a:endParaRPr>
          </a:p>
        </p:txBody>
      </p:sp>
      <p:sp>
        <p:nvSpPr>
          <p:cNvPr id="4" name="TextBox 3"/>
          <p:cNvSpPr txBox="1"/>
          <p:nvPr/>
        </p:nvSpPr>
        <p:spPr>
          <a:xfrm>
            <a:off x="1981200" y="1905000"/>
            <a:ext cx="6096000" cy="460375"/>
          </a:xfrm>
          <a:prstGeom prst="rect">
            <a:avLst/>
          </a:prstGeom>
          <a:noFill/>
        </p:spPr>
        <p:txBody>
          <a:bodyPr wrap="square" rtlCol="0">
            <a:spAutoFit/>
          </a:bodyPr>
          <a:lstStyle/>
          <a:p>
            <a:r>
              <a:rPr lang="en-US" sz="2400" dirty="0" smtClean="0">
                <a:solidFill>
                  <a:srgbClr val="FF0000"/>
                </a:solidFill>
              </a:rPr>
              <a:t>Relates to these principles:</a:t>
            </a:r>
            <a:endParaRPr lang="en-US" sz="2400" dirty="0" smtClean="0">
              <a:solidFill>
                <a:srgbClr val="FF0000"/>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Scrum is the most popular agile process</a:t>
            </a:r>
            <a:endParaRPr lang="en-US" sz="3600" b="1" dirty="0" smtClean="0">
              <a:solidFill>
                <a:srgbClr val="FF0000"/>
              </a:solidFill>
            </a:endParaRPr>
          </a:p>
        </p:txBody>
      </p:sp>
      <p:pic>
        <p:nvPicPr>
          <p:cNvPr id="5" name="Picture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02690" y="1277620"/>
            <a:ext cx="9213850" cy="528256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b="1" dirty="0" smtClean="0">
                <a:solidFill>
                  <a:srgbClr val="FF0000"/>
                </a:solidFill>
              </a:rPr>
              <a:t>Kanban + Scrum =“Scrum-ban”</a:t>
            </a:r>
            <a:endParaRPr lang="en-US" b="1" dirty="0" smtClean="0">
              <a:solidFill>
                <a:srgbClr val="FF0000"/>
              </a:solidFill>
            </a:endParaRPr>
          </a:p>
        </p:txBody>
      </p:sp>
      <p:sp>
        <p:nvSpPr>
          <p:cNvPr id="5" name="Text Placeholder 4"/>
          <p:cNvSpPr>
            <a:spLocks noGrp="1"/>
          </p:cNvSpPr>
          <p:nvPr>
            <p:ph type="body" idx="1"/>
          </p:nvPr>
        </p:nvSpPr>
        <p:spPr>
          <a:xfrm>
            <a:off x="1828800" y="1535113"/>
            <a:ext cx="3962400" cy="639762"/>
          </a:xfrm>
          <a:solidFill>
            <a:schemeClr val="accent1">
              <a:lumMod val="40000"/>
              <a:lumOff val="60000"/>
            </a:schemeClr>
          </a:solidFill>
        </p:spPr>
        <p:txBody>
          <a:bodyPr/>
          <a:lstStyle/>
          <a:p>
            <a:r>
              <a:rPr lang="en-US" dirty="0" smtClean="0">
                <a:solidFill>
                  <a:srgbClr val="FF0000"/>
                </a:solidFill>
              </a:rPr>
              <a:t>Kanban</a:t>
            </a:r>
            <a:endParaRPr lang="en-US" dirty="0" smtClean="0">
              <a:solidFill>
                <a:srgbClr val="FF0000"/>
              </a:solidFill>
            </a:endParaRPr>
          </a:p>
        </p:txBody>
      </p:sp>
      <p:sp>
        <p:nvSpPr>
          <p:cNvPr id="6" name="Content Placeholder 5"/>
          <p:cNvSpPr>
            <a:spLocks noGrp="1"/>
          </p:cNvSpPr>
          <p:nvPr>
            <p:ph sz="half" idx="2"/>
          </p:nvPr>
        </p:nvSpPr>
        <p:spPr>
          <a:xfrm>
            <a:off x="1981200" y="2133600"/>
            <a:ext cx="3657600" cy="3951288"/>
          </a:xfrm>
        </p:spPr>
        <p:txBody>
          <a:bodyPr>
            <a:normAutofit fontScale="82500"/>
          </a:bodyPr>
          <a:lstStyle/>
          <a:p>
            <a:r>
              <a:rPr lang="en-US" dirty="0" smtClean="0">
                <a:solidFill>
                  <a:srgbClr val="FF0000"/>
                </a:solidFill>
              </a:rPr>
              <a:t>Specialized functional groups</a:t>
            </a:r>
            <a:endParaRPr lang="en-US" dirty="0" smtClean="0">
              <a:solidFill>
                <a:srgbClr val="FF0000"/>
              </a:solidFill>
            </a:endParaRPr>
          </a:p>
          <a:p>
            <a:r>
              <a:rPr lang="en-US" dirty="0" smtClean="0">
                <a:solidFill>
                  <a:srgbClr val="FF0000"/>
                </a:solidFill>
              </a:rPr>
              <a:t>Track process steps</a:t>
            </a:r>
            <a:endParaRPr lang="en-US" dirty="0" smtClean="0">
              <a:solidFill>
                <a:srgbClr val="FF0000"/>
              </a:solidFill>
            </a:endParaRPr>
          </a:p>
          <a:p>
            <a:r>
              <a:rPr lang="en-US" dirty="0" smtClean="0">
                <a:solidFill>
                  <a:srgbClr val="FF0000"/>
                </a:solidFill>
              </a:rPr>
              <a:t>Continuous process with periodic release cycles</a:t>
            </a:r>
            <a:endParaRPr lang="en-US" dirty="0" smtClean="0">
              <a:solidFill>
                <a:srgbClr val="FF0000"/>
              </a:solidFill>
            </a:endParaRPr>
          </a:p>
          <a:p>
            <a:r>
              <a:rPr lang="en-US" dirty="0" smtClean="0">
                <a:solidFill>
                  <a:srgbClr val="FF0000"/>
                </a:solidFill>
              </a:rPr>
              <a:t>Able to expedite stories</a:t>
            </a:r>
            <a:endParaRPr lang="en-US" dirty="0" smtClean="0">
              <a:solidFill>
                <a:srgbClr val="FF0000"/>
              </a:solidFill>
            </a:endParaRPr>
          </a:p>
          <a:p>
            <a:r>
              <a:rPr lang="en-US" dirty="0" smtClean="0">
                <a:solidFill>
                  <a:srgbClr val="FF0000"/>
                </a:solidFill>
              </a:rPr>
              <a:t>Limits for work in process to identify bottlenecks</a:t>
            </a:r>
            <a:endParaRPr lang="en-US" dirty="0" smtClean="0">
              <a:solidFill>
                <a:srgbClr val="FF0000"/>
              </a:solidFill>
            </a:endParaRPr>
          </a:p>
          <a:p>
            <a:r>
              <a:rPr lang="en-US" dirty="0" smtClean="0">
                <a:solidFill>
                  <a:srgbClr val="FF0000"/>
                </a:solidFill>
              </a:rPr>
              <a:t>Goal is to minimize story completion time</a:t>
            </a:r>
            <a:endParaRPr lang="en-US" dirty="0" smtClean="0">
              <a:solidFill>
                <a:srgbClr val="FF0000"/>
              </a:solidFill>
            </a:endParaRPr>
          </a:p>
        </p:txBody>
      </p:sp>
      <p:sp>
        <p:nvSpPr>
          <p:cNvPr id="7" name="Text Placeholder 6"/>
          <p:cNvSpPr>
            <a:spLocks noGrp="1"/>
          </p:cNvSpPr>
          <p:nvPr>
            <p:ph type="body" sz="quarter" idx="3"/>
          </p:nvPr>
        </p:nvSpPr>
        <p:spPr>
          <a:xfrm>
            <a:off x="5943600" y="1535113"/>
            <a:ext cx="3962400" cy="639762"/>
          </a:xfrm>
          <a:solidFill>
            <a:schemeClr val="accent1">
              <a:lumMod val="40000"/>
              <a:lumOff val="60000"/>
            </a:schemeClr>
          </a:solidFill>
        </p:spPr>
        <p:txBody>
          <a:bodyPr/>
          <a:lstStyle/>
          <a:p>
            <a:r>
              <a:rPr lang="en-US" dirty="0" smtClean="0">
                <a:solidFill>
                  <a:srgbClr val="FF0000"/>
                </a:solidFill>
              </a:rPr>
              <a:t>Scrum</a:t>
            </a:r>
            <a:endParaRPr lang="en-US" dirty="0" smtClean="0">
              <a:solidFill>
                <a:srgbClr val="FF0000"/>
              </a:solidFill>
            </a:endParaRPr>
          </a:p>
        </p:txBody>
      </p:sp>
      <p:sp>
        <p:nvSpPr>
          <p:cNvPr id="8" name="Content Placeholder 7"/>
          <p:cNvSpPr>
            <a:spLocks noGrp="1"/>
          </p:cNvSpPr>
          <p:nvPr>
            <p:ph sz="quarter" idx="4"/>
          </p:nvPr>
        </p:nvSpPr>
        <p:spPr>
          <a:xfrm>
            <a:off x="5788025" y="2174875"/>
            <a:ext cx="4270375" cy="3951288"/>
          </a:xfrm>
        </p:spPr>
        <p:txBody>
          <a:bodyPr>
            <a:normAutofit fontScale="90000" lnSpcReduction="10000"/>
          </a:bodyPr>
          <a:lstStyle/>
          <a:p>
            <a:r>
              <a:rPr lang="en-US" dirty="0" smtClean="0">
                <a:solidFill>
                  <a:srgbClr val="FF0000"/>
                </a:solidFill>
              </a:rPr>
              <a:t>Multi-faceted, self-organizing teams</a:t>
            </a:r>
            <a:endParaRPr lang="en-US" dirty="0" smtClean="0">
              <a:solidFill>
                <a:srgbClr val="FF0000"/>
              </a:solidFill>
            </a:endParaRPr>
          </a:p>
          <a:p>
            <a:r>
              <a:rPr lang="en-US" dirty="0" smtClean="0">
                <a:solidFill>
                  <a:srgbClr val="FF0000"/>
                </a:solidFill>
              </a:rPr>
              <a:t>Backlog </a:t>
            </a:r>
            <a:r>
              <a:rPr lang="en-US" dirty="0" smtClean="0">
                <a:solidFill>
                  <a:srgbClr val="FF0000"/>
                </a:solidFill>
                <a:sym typeface="ZapfDingbats"/>
              </a:rPr>
              <a:t>|</a:t>
            </a:r>
            <a:r>
              <a:rPr lang="en-US" dirty="0" smtClean="0">
                <a:solidFill>
                  <a:srgbClr val="FF0000"/>
                </a:solidFill>
              </a:rPr>
              <a:t> In process | Done </a:t>
            </a:r>
            <a:endParaRPr lang="en-US" dirty="0" smtClean="0">
              <a:solidFill>
                <a:srgbClr val="FF0000"/>
              </a:solidFill>
            </a:endParaRPr>
          </a:p>
          <a:p>
            <a:r>
              <a:rPr lang="en-US" dirty="0" smtClean="0">
                <a:solidFill>
                  <a:srgbClr val="FF0000"/>
                </a:solidFill>
              </a:rPr>
              <a:t>Time-boxed sprints, each potentially releasable</a:t>
            </a:r>
            <a:endParaRPr lang="en-US" dirty="0" smtClean="0">
              <a:solidFill>
                <a:srgbClr val="FF0000"/>
              </a:solidFill>
            </a:endParaRPr>
          </a:p>
          <a:p>
            <a:r>
              <a:rPr lang="en-US" dirty="0" smtClean="0">
                <a:solidFill>
                  <a:srgbClr val="FF0000"/>
                </a:solidFill>
              </a:rPr>
              <a:t>Stories frozen during a sprint</a:t>
            </a:r>
            <a:endParaRPr lang="en-US" dirty="0" smtClean="0">
              <a:solidFill>
                <a:srgbClr val="FF0000"/>
              </a:solidFill>
            </a:endParaRPr>
          </a:p>
          <a:p>
            <a:r>
              <a:rPr lang="en-US" dirty="0" smtClean="0">
                <a:solidFill>
                  <a:srgbClr val="FF0000"/>
                </a:solidFill>
              </a:rPr>
              <a:t>Unfinished stories placed on backlog</a:t>
            </a:r>
            <a:endParaRPr lang="en-US" dirty="0" smtClean="0">
              <a:solidFill>
                <a:srgbClr val="FF0000"/>
              </a:solidFill>
            </a:endParaRPr>
          </a:p>
          <a:p>
            <a:r>
              <a:rPr lang="en-US" dirty="0" smtClean="0">
                <a:solidFill>
                  <a:srgbClr val="FF0000"/>
                </a:solidFill>
              </a:rPr>
              <a:t>Goal is to increase team velocity</a:t>
            </a:r>
            <a:endParaRPr lang="en-US" dirty="0" smtClean="0">
              <a:solidFill>
                <a:srgbClr val="FF0000"/>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8880" y="228600"/>
            <a:ext cx="3982720" cy="1143000"/>
          </a:xfrm>
        </p:spPr>
        <p:txBody>
          <a:bodyPr/>
          <a:lstStyle/>
          <a:p>
            <a:r>
              <a:rPr lang="en-US" b="1" dirty="0" smtClean="0">
                <a:solidFill>
                  <a:srgbClr val="FF0000"/>
                </a:solidFill>
              </a:rPr>
              <a:t>Kanban Board</a:t>
            </a:r>
            <a:endParaRPr lang="en-US" b="1" dirty="0" smtClean="0">
              <a:solidFill>
                <a:srgbClr val="FF0000"/>
              </a:solidFill>
            </a:endParaRPr>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5400000">
            <a:off x="6019800" y="864235"/>
            <a:ext cx="6858000" cy="5334000"/>
          </a:xfrm>
          <a:prstGeom prst="rect">
            <a:avLst/>
          </a:prstGeom>
        </p:spPr>
      </p:pic>
      <p:sp>
        <p:nvSpPr>
          <p:cNvPr id="5" name="TextBox 4"/>
          <p:cNvSpPr txBox="1"/>
          <p:nvPr>
            <p:custDataLst>
              <p:tags r:id="rId2"/>
            </p:custDataLst>
          </p:nvPr>
        </p:nvSpPr>
        <p:spPr>
          <a:xfrm>
            <a:off x="3335074" y="1572307"/>
            <a:ext cx="1063625" cy="368300"/>
          </a:xfrm>
          <a:prstGeom prst="rect">
            <a:avLst/>
          </a:prstGeom>
          <a:noFill/>
        </p:spPr>
        <p:txBody>
          <a:bodyPr wrap="none" rtlCol="0">
            <a:spAutoFit/>
          </a:bodyPr>
          <a:lstStyle/>
          <a:p>
            <a:r>
              <a:rPr lang="en-US" dirty="0" smtClean="0">
                <a:solidFill>
                  <a:srgbClr val="FF0000"/>
                </a:solidFill>
              </a:rPr>
              <a:t>Roadmap</a:t>
            </a:r>
            <a:endParaRPr lang="en-US" dirty="0" smtClean="0">
              <a:solidFill>
                <a:srgbClr val="FF0000"/>
              </a:solidFill>
            </a:endParaRPr>
          </a:p>
        </p:txBody>
      </p:sp>
      <p:sp>
        <p:nvSpPr>
          <p:cNvPr id="6" name="TextBox 5"/>
          <p:cNvSpPr txBox="1"/>
          <p:nvPr>
            <p:custDataLst>
              <p:tags r:id="rId3"/>
            </p:custDataLst>
          </p:nvPr>
        </p:nvSpPr>
        <p:spPr>
          <a:xfrm>
            <a:off x="2299854" y="2139618"/>
            <a:ext cx="2051050" cy="368300"/>
          </a:xfrm>
          <a:prstGeom prst="rect">
            <a:avLst/>
          </a:prstGeom>
          <a:noFill/>
        </p:spPr>
        <p:txBody>
          <a:bodyPr wrap="none" rtlCol="0">
            <a:spAutoFit/>
          </a:bodyPr>
          <a:lstStyle/>
          <a:p>
            <a:r>
              <a:rPr lang="en-US" dirty="0" smtClean="0">
                <a:solidFill>
                  <a:srgbClr val="FF0000"/>
                </a:solidFill>
              </a:rPr>
              <a:t>Major Process Steps</a:t>
            </a:r>
            <a:endParaRPr lang="en-US" dirty="0" smtClean="0">
              <a:solidFill>
                <a:srgbClr val="FF0000"/>
              </a:solidFill>
            </a:endParaRPr>
          </a:p>
        </p:txBody>
      </p:sp>
      <p:sp>
        <p:nvSpPr>
          <p:cNvPr id="7" name="TextBox 6"/>
          <p:cNvSpPr txBox="1"/>
          <p:nvPr>
            <p:custDataLst>
              <p:tags r:id="rId4"/>
            </p:custDataLst>
          </p:nvPr>
        </p:nvSpPr>
        <p:spPr>
          <a:xfrm>
            <a:off x="2438400" y="2819400"/>
            <a:ext cx="960120" cy="368300"/>
          </a:xfrm>
          <a:prstGeom prst="rect">
            <a:avLst/>
          </a:prstGeom>
          <a:noFill/>
        </p:spPr>
        <p:txBody>
          <a:bodyPr wrap="none" rtlCol="0">
            <a:spAutoFit/>
          </a:bodyPr>
          <a:lstStyle/>
          <a:p>
            <a:r>
              <a:rPr lang="en-US" dirty="0" smtClean="0">
                <a:solidFill>
                  <a:srgbClr val="FF0000"/>
                </a:solidFill>
              </a:rPr>
              <a:t>On Deck</a:t>
            </a:r>
            <a:endParaRPr lang="en-US" dirty="0" smtClean="0">
              <a:solidFill>
                <a:srgbClr val="FF0000"/>
              </a:solidFill>
            </a:endParaRPr>
          </a:p>
        </p:txBody>
      </p:sp>
      <p:sp>
        <p:nvSpPr>
          <p:cNvPr id="8" name="TextBox 7"/>
          <p:cNvSpPr txBox="1"/>
          <p:nvPr>
            <p:custDataLst>
              <p:tags r:id="rId5"/>
            </p:custDataLst>
          </p:nvPr>
        </p:nvSpPr>
        <p:spPr>
          <a:xfrm>
            <a:off x="2819400" y="3733800"/>
            <a:ext cx="1800225" cy="368300"/>
          </a:xfrm>
          <a:prstGeom prst="rect">
            <a:avLst/>
          </a:prstGeom>
          <a:noFill/>
        </p:spPr>
        <p:txBody>
          <a:bodyPr wrap="none" rtlCol="0">
            <a:spAutoFit/>
          </a:bodyPr>
          <a:lstStyle/>
          <a:p>
            <a:r>
              <a:rPr lang="en-US" dirty="0" smtClean="0">
                <a:solidFill>
                  <a:srgbClr val="FF0000"/>
                </a:solidFill>
              </a:rPr>
              <a:t>Stories in process</a:t>
            </a:r>
            <a:endParaRPr lang="en-US" dirty="0" smtClean="0">
              <a:solidFill>
                <a:srgbClr val="FF0000"/>
              </a:solidFill>
            </a:endParaRPr>
          </a:p>
        </p:txBody>
      </p:sp>
      <p:sp>
        <p:nvSpPr>
          <p:cNvPr id="9" name="TextBox 8"/>
          <p:cNvSpPr txBox="1"/>
          <p:nvPr/>
        </p:nvSpPr>
        <p:spPr>
          <a:xfrm>
            <a:off x="2438400" y="5089901"/>
            <a:ext cx="2061218" cy="645160"/>
          </a:xfrm>
          <a:prstGeom prst="rect">
            <a:avLst/>
          </a:prstGeom>
          <a:noFill/>
        </p:spPr>
        <p:txBody>
          <a:bodyPr wrap="square" rtlCol="0">
            <a:spAutoFit/>
          </a:bodyPr>
          <a:lstStyle/>
          <a:p>
            <a:r>
              <a:rPr lang="en-US" dirty="0" smtClean="0">
                <a:solidFill>
                  <a:srgbClr val="FF0000"/>
                </a:solidFill>
              </a:rPr>
              <a:t>Stories that are done, done, done</a:t>
            </a:r>
            <a:endParaRPr lang="en-US" dirty="0" smtClean="0">
              <a:solidFill>
                <a:srgbClr val="FF0000"/>
              </a:solidFill>
            </a:endParaRPr>
          </a:p>
        </p:txBody>
      </p:sp>
      <p:cxnSp>
        <p:nvCxnSpPr>
          <p:cNvPr id="11" name="Straight Arrow Connector 10"/>
          <p:cNvCxnSpPr>
            <a:stCxn id="5" idx="3"/>
          </p:cNvCxnSpPr>
          <p:nvPr/>
        </p:nvCxnSpPr>
        <p:spPr>
          <a:xfrm>
            <a:off x="5922374" y="1756338"/>
            <a:ext cx="2218326"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370293" y="2300948"/>
            <a:ext cx="2218326" cy="20800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410141" y="2987933"/>
            <a:ext cx="2262496" cy="51726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563474" y="3918466"/>
            <a:ext cx="2218326"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4114800" y="3733800"/>
            <a:ext cx="4724400" cy="16002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4724400" y="0"/>
            <a:ext cx="2235910" cy="157230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p:cNvSpPr txBox="1"/>
          <p:nvPr/>
        </p:nvSpPr>
        <p:spPr>
          <a:xfrm>
            <a:off x="4847866" y="187924"/>
            <a:ext cx="1892300" cy="1076325"/>
          </a:xfrm>
          <a:prstGeom prst="rect">
            <a:avLst/>
          </a:prstGeom>
          <a:noFill/>
        </p:spPr>
        <p:txBody>
          <a:bodyPr wrap="none" rtlCol="0">
            <a:spAutoFit/>
          </a:bodyPr>
          <a:lstStyle/>
          <a:p>
            <a:r>
              <a:rPr lang="en-US" sz="1600" dirty="0" smtClean="0">
                <a:solidFill>
                  <a:srgbClr val="FF0000"/>
                </a:solidFill>
              </a:rPr>
              <a:t>New         Bug or Fix</a:t>
            </a:r>
            <a:endParaRPr lang="en-US" sz="1600" dirty="0" smtClean="0">
              <a:solidFill>
                <a:srgbClr val="FF0000"/>
              </a:solidFill>
            </a:endParaRPr>
          </a:p>
          <a:p>
            <a:endParaRPr lang="en-US" sz="1600" dirty="0" smtClean="0">
              <a:solidFill>
                <a:srgbClr val="FF0000"/>
              </a:solidFill>
            </a:endParaRPr>
          </a:p>
          <a:p>
            <a:r>
              <a:rPr lang="en-US" sz="1600" dirty="0" smtClean="0">
                <a:solidFill>
                  <a:srgbClr val="FF0000"/>
                </a:solidFill>
              </a:rPr>
              <a:t>Original   Breakdown</a:t>
            </a:r>
            <a:endParaRPr lang="en-US" sz="1600" dirty="0" smtClean="0">
              <a:solidFill>
                <a:srgbClr val="FF0000"/>
              </a:solidFill>
            </a:endParaRPr>
          </a:p>
          <a:p>
            <a:r>
              <a:rPr lang="en-US" sz="1600" dirty="0" smtClean="0">
                <a:solidFill>
                  <a:srgbClr val="FF0000"/>
                </a:solidFill>
              </a:rPr>
              <a:t>Story         of Epic</a:t>
            </a:r>
            <a:endParaRPr lang="en-US" sz="1600" dirty="0" smtClean="0">
              <a:solidFill>
                <a:srgbClr val="FF0000"/>
              </a:solidFill>
            </a:endParaRPr>
          </a:p>
        </p:txBody>
      </p:sp>
      <p:cxnSp>
        <p:nvCxnSpPr>
          <p:cNvPr id="24" name="Straight Arrow Connector 23"/>
          <p:cNvCxnSpPr/>
          <p:nvPr/>
        </p:nvCxnSpPr>
        <p:spPr>
          <a:xfrm>
            <a:off x="6953383" y="726533"/>
            <a:ext cx="1200017" cy="11166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7620000" cy="868362"/>
          </a:xfrm>
        </p:spPr>
        <p:txBody>
          <a:bodyPr/>
          <a:lstStyle/>
          <a:p>
            <a:r>
              <a:rPr lang="en-US" sz="4400" b="1" dirty="0" smtClean="0">
                <a:solidFill>
                  <a:srgbClr val="FF0000"/>
                </a:solidFill>
              </a:rPr>
              <a:t>Scrum time at the Kanban Board</a:t>
            </a:r>
            <a:endParaRPr lang="en-US" sz="4400" b="1" dirty="0" smtClean="0">
              <a:solidFill>
                <a:srgbClr val="FF0000"/>
              </a:solidFill>
            </a:endParaRPr>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0800000">
            <a:off x="2438400" y="1219200"/>
            <a:ext cx="7518400" cy="5638800"/>
          </a:xfrm>
          <a:prstGeom prst="rect">
            <a:avLst/>
          </a:prstGeom>
        </p:spPr>
      </p:pic>
      <p:sp>
        <p:nvSpPr>
          <p:cNvPr id="5" name="TextBox 4"/>
          <p:cNvSpPr txBox="1"/>
          <p:nvPr/>
        </p:nvSpPr>
        <p:spPr>
          <a:xfrm>
            <a:off x="7010400" y="6604084"/>
            <a:ext cx="2971800" cy="252730"/>
          </a:xfrm>
          <a:prstGeom prst="rect">
            <a:avLst/>
          </a:prstGeom>
          <a:noFill/>
        </p:spPr>
        <p:txBody>
          <a:bodyPr wrap="square" rtlCol="0">
            <a:spAutoFit/>
          </a:bodyPr>
          <a:lstStyle/>
          <a:p>
            <a:pPr algn="ctr"/>
            <a:r>
              <a:rPr lang="en-US" sz="1050" i="1" dirty="0" smtClean="0">
                <a:solidFill>
                  <a:schemeClr val="bg1"/>
                </a:solidFill>
              </a:rPr>
              <a:t>DLP photo. Release for web use of photo on file.</a:t>
            </a:r>
            <a:endParaRPr lang="en-US" sz="1050" i="1" dirty="0">
              <a:solidFill>
                <a:schemeClr val="bg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dirty="0" smtClean="0">
                <a:solidFill>
                  <a:srgbClr val="FF0000"/>
                </a:solidFill>
              </a:rPr>
              <a:t>Collaborative development</a:t>
            </a:r>
            <a:endParaRPr lang="en-US" dirty="0" smtClean="0">
              <a:solidFill>
                <a:srgbClr val="FF0000"/>
              </a:solidFill>
            </a:endParaRPr>
          </a:p>
        </p:txBody>
      </p:sp>
      <p:sp>
        <p:nvSpPr>
          <p:cNvPr id="8" name="Content Placeholder 7"/>
          <p:cNvSpPr>
            <a:spLocks noGrp="1"/>
          </p:cNvSpPr>
          <p:nvPr>
            <p:ph idx="1"/>
          </p:nvPr>
        </p:nvSpPr>
        <p:spPr>
          <a:xfrm>
            <a:off x="1981200" y="1600200"/>
            <a:ext cx="7924800" cy="4525963"/>
          </a:xfrm>
        </p:spPr>
        <p:txBody>
          <a:bodyPr>
            <a:normAutofit fontScale="92500" lnSpcReduction="20000"/>
          </a:bodyPr>
          <a:lstStyle/>
          <a:p>
            <a:pPr>
              <a:spcBef>
                <a:spcPts val="600"/>
              </a:spcBef>
            </a:pPr>
            <a:r>
              <a:rPr lang="en-US" sz="2400" b="1" dirty="0" smtClean="0">
                <a:solidFill>
                  <a:srgbClr val="FF0000"/>
                </a:solidFill>
              </a:rPr>
              <a:t>High level of user input and collaboration</a:t>
            </a:r>
            <a:endParaRPr lang="en-US" sz="2400" b="1" dirty="0" smtClean="0">
              <a:solidFill>
                <a:srgbClr val="FF0000"/>
              </a:solidFill>
            </a:endParaRPr>
          </a:p>
          <a:p>
            <a:pPr lvl="1">
              <a:spcBef>
                <a:spcPts val="600"/>
              </a:spcBef>
            </a:pPr>
            <a:r>
              <a:rPr lang="en-US" sz="2000" dirty="0" smtClean="0">
                <a:solidFill>
                  <a:srgbClr val="FF0000"/>
                </a:solidFill>
              </a:rPr>
              <a:t>Users – extensive stakeholder engagements at the start, monthly follow-up focus groups, demos, etc.</a:t>
            </a:r>
            <a:endParaRPr lang="en-US" sz="2000" dirty="0" smtClean="0">
              <a:solidFill>
                <a:srgbClr val="FF0000"/>
              </a:solidFill>
            </a:endParaRPr>
          </a:p>
          <a:p>
            <a:pPr lvl="1">
              <a:spcBef>
                <a:spcPts val="600"/>
              </a:spcBef>
            </a:pPr>
            <a:r>
              <a:rPr lang="en-US" sz="2000" dirty="0" smtClean="0">
                <a:solidFill>
                  <a:srgbClr val="FF0000"/>
                </a:solidFill>
              </a:rPr>
              <a:t>Customer/sponsor – weekly meetings plus participation in JAD sessions</a:t>
            </a:r>
            <a:endParaRPr lang="en-US" sz="2000" dirty="0" smtClean="0">
              <a:solidFill>
                <a:srgbClr val="FF0000"/>
              </a:solidFill>
            </a:endParaRPr>
          </a:p>
          <a:p>
            <a:pPr lvl="1">
              <a:spcBef>
                <a:spcPts val="600"/>
              </a:spcBef>
            </a:pPr>
            <a:r>
              <a:rPr lang="en-US" sz="2000" dirty="0" smtClean="0">
                <a:solidFill>
                  <a:srgbClr val="FF0000"/>
                </a:solidFill>
              </a:rPr>
              <a:t>Business analysts – the internal “voice of the users” with deep knowledge of education data</a:t>
            </a:r>
            <a:endParaRPr lang="en-US" sz="2000" dirty="0" smtClean="0">
              <a:solidFill>
                <a:srgbClr val="FF0000"/>
              </a:solidFill>
            </a:endParaRPr>
          </a:p>
          <a:p>
            <a:pPr>
              <a:spcBef>
                <a:spcPts val="600"/>
              </a:spcBef>
            </a:pPr>
            <a:r>
              <a:rPr lang="en-US" sz="2400" b="1" dirty="0" smtClean="0">
                <a:solidFill>
                  <a:srgbClr val="FF0000"/>
                </a:solidFill>
              </a:rPr>
              <a:t>Experienced development team physically in the same room</a:t>
            </a:r>
            <a:endParaRPr lang="en-US" sz="2400" b="1" dirty="0" smtClean="0">
              <a:solidFill>
                <a:srgbClr val="FF0000"/>
              </a:solidFill>
            </a:endParaRPr>
          </a:p>
          <a:p>
            <a:pPr lvl="1">
              <a:spcBef>
                <a:spcPts val="600"/>
              </a:spcBef>
            </a:pPr>
            <a:r>
              <a:rPr lang="en-US" sz="2000" dirty="0" smtClean="0">
                <a:solidFill>
                  <a:srgbClr val="FF0000"/>
                </a:solidFill>
              </a:rPr>
              <a:t>Architecture and leads with experience with education data and applications </a:t>
            </a:r>
            <a:endParaRPr lang="en-US" sz="2000" dirty="0" smtClean="0">
              <a:solidFill>
                <a:srgbClr val="FF0000"/>
              </a:solidFill>
            </a:endParaRPr>
          </a:p>
          <a:p>
            <a:pPr lvl="1">
              <a:spcBef>
                <a:spcPts val="600"/>
              </a:spcBef>
            </a:pPr>
            <a:r>
              <a:rPr lang="en-US" sz="2000" dirty="0" smtClean="0">
                <a:solidFill>
                  <a:srgbClr val="FF0000"/>
                </a:solidFill>
              </a:rPr>
              <a:t>ETL developers, most with deep knowledge of education data</a:t>
            </a:r>
            <a:endParaRPr lang="en-US" sz="2000" dirty="0" smtClean="0">
              <a:solidFill>
                <a:srgbClr val="FF0000"/>
              </a:solidFill>
            </a:endParaRPr>
          </a:p>
          <a:p>
            <a:pPr lvl="1">
              <a:spcBef>
                <a:spcPts val="600"/>
              </a:spcBef>
            </a:pPr>
            <a:r>
              <a:rPr lang="en-US" sz="2000" dirty="0" smtClean="0">
                <a:solidFill>
                  <a:srgbClr val="FF0000"/>
                </a:solidFill>
              </a:rPr>
              <a:t>UI/application developers </a:t>
            </a:r>
            <a:endParaRPr lang="en-US" sz="2000" dirty="0" smtClean="0">
              <a:solidFill>
                <a:srgbClr val="FF0000"/>
              </a:solidFill>
            </a:endParaRPr>
          </a:p>
          <a:p>
            <a:pPr>
              <a:spcBef>
                <a:spcPts val="600"/>
              </a:spcBef>
            </a:pPr>
            <a:r>
              <a:rPr lang="en-US" sz="2400" b="1" dirty="0" smtClean="0">
                <a:solidFill>
                  <a:srgbClr val="FF0000"/>
                </a:solidFill>
              </a:rPr>
              <a:t>Support and deployment plugged in to the development team</a:t>
            </a:r>
            <a:endParaRPr lang="en-US" sz="2400" b="1" dirty="0" smtClean="0">
              <a:solidFill>
                <a:srgbClr val="FF0000"/>
              </a:solidFill>
            </a:endParaRPr>
          </a:p>
          <a:p>
            <a:pPr lvl="1">
              <a:spcBef>
                <a:spcPts val="600"/>
              </a:spcBef>
            </a:pPr>
            <a:r>
              <a:rPr lang="en-US" sz="2000" dirty="0" smtClean="0">
                <a:solidFill>
                  <a:srgbClr val="FF0000"/>
                </a:solidFill>
              </a:rPr>
              <a:t>Provided remotely by Education Service Center Region 10</a:t>
            </a:r>
            <a:endParaRPr lang="en-US" sz="2000" dirty="0" smtClean="0">
              <a:solidFill>
                <a:srgbClr val="FF0000"/>
              </a:solidFill>
            </a:endParaRPr>
          </a:p>
          <a:p>
            <a:pPr lvl="1">
              <a:spcBef>
                <a:spcPts val="600"/>
              </a:spcBef>
            </a:pPr>
            <a:r>
              <a:rPr lang="en-US" sz="2000" dirty="0" smtClean="0">
                <a:solidFill>
                  <a:srgbClr val="FF0000"/>
                </a:solidFill>
              </a:rPr>
              <a:t>Multiple touch points planned for each week</a:t>
            </a:r>
            <a:endParaRPr lang="en-US" sz="2000" dirty="0" smtClean="0">
              <a:solidFill>
                <a:srgbClr val="FF0000"/>
              </a:solidFill>
            </a:endParaRPr>
          </a:p>
          <a:p>
            <a:pPr lvl="1">
              <a:spcBef>
                <a:spcPts val="600"/>
              </a:spcBef>
            </a:pPr>
            <a:r>
              <a:rPr lang="en-US" sz="2000" dirty="0" smtClean="0">
                <a:solidFill>
                  <a:srgbClr val="FF0000"/>
                </a:solidFill>
              </a:rPr>
              <a:t>Common issue tracker across districts, Region 10, and development</a:t>
            </a:r>
            <a:endParaRPr lang="en-US" sz="2000" dirty="0" smtClean="0">
              <a:solidFill>
                <a:srgbClr val="FF0000"/>
              </a:solidFill>
            </a:endParaRPr>
          </a:p>
          <a:p>
            <a:pPr lvl="1">
              <a:spcBef>
                <a:spcPts val="600"/>
              </a:spcBef>
            </a:pPr>
            <a:endParaRPr lang="en-US" sz="2000" dirty="0" smtClean="0">
              <a:solidFill>
                <a:srgbClr val="FF0000"/>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Other techniques contributing to being “agile”</a:t>
            </a:r>
            <a:endParaRPr lang="en-US" sz="3200" dirty="0"/>
          </a:p>
        </p:txBody>
      </p:sp>
      <p:sp>
        <p:nvSpPr>
          <p:cNvPr id="3" name="Content Placeholder 2"/>
          <p:cNvSpPr>
            <a:spLocks noGrp="1"/>
          </p:cNvSpPr>
          <p:nvPr>
            <p:ph idx="1"/>
          </p:nvPr>
        </p:nvSpPr>
        <p:spPr/>
        <p:txBody>
          <a:bodyPr>
            <a:normAutofit fontScale="77500" lnSpcReduction="20000"/>
          </a:bodyPr>
          <a:lstStyle/>
          <a:p>
            <a:pPr>
              <a:spcBef>
                <a:spcPts val="600"/>
              </a:spcBef>
            </a:pPr>
            <a:r>
              <a:rPr lang="en-US" sz="2800" dirty="0" smtClean="0"/>
              <a:t>Joint Application Development (JAD) sessions</a:t>
            </a:r>
            <a:endParaRPr lang="en-US" sz="2800" dirty="0" smtClean="0"/>
          </a:p>
          <a:p>
            <a:pPr lvl="1">
              <a:spcBef>
                <a:spcPts val="600"/>
              </a:spcBef>
            </a:pPr>
            <a:r>
              <a:rPr lang="en-US" sz="2400" dirty="0" smtClean="0"/>
              <a:t>Bring users and developers together on specialized issues where features and implementations are closely intertwined</a:t>
            </a:r>
            <a:endParaRPr lang="en-US" sz="2400" dirty="0" smtClean="0"/>
          </a:p>
          <a:p>
            <a:pPr>
              <a:spcBef>
                <a:spcPts val="600"/>
              </a:spcBef>
            </a:pPr>
            <a:r>
              <a:rPr lang="en-US" sz="2800" dirty="0" smtClean="0"/>
              <a:t>Test driven development</a:t>
            </a:r>
            <a:endParaRPr lang="en-US" sz="2800" dirty="0" smtClean="0"/>
          </a:p>
          <a:p>
            <a:pPr lvl="1">
              <a:spcBef>
                <a:spcPts val="600"/>
              </a:spcBef>
            </a:pPr>
            <a:r>
              <a:rPr lang="en-US" sz="2400" dirty="0" smtClean="0"/>
              <a:t>ETL test harness</a:t>
            </a:r>
            <a:endParaRPr lang="en-US" sz="2400" dirty="0" smtClean="0"/>
          </a:p>
          <a:p>
            <a:pPr lvl="1">
              <a:spcBef>
                <a:spcPts val="600"/>
              </a:spcBef>
            </a:pPr>
            <a:r>
              <a:rPr lang="en-US" sz="2400" dirty="0" smtClean="0"/>
              <a:t>Automated unit testing</a:t>
            </a:r>
            <a:endParaRPr lang="en-US" sz="2400" dirty="0" smtClean="0"/>
          </a:p>
          <a:p>
            <a:pPr>
              <a:spcBef>
                <a:spcPts val="600"/>
              </a:spcBef>
            </a:pPr>
            <a:r>
              <a:rPr lang="en-US" sz="2800" dirty="0" smtClean="0"/>
              <a:t>Continuous integration with automated build and testing</a:t>
            </a:r>
            <a:endParaRPr lang="en-US" sz="2800" dirty="0" smtClean="0"/>
          </a:p>
          <a:p>
            <a:pPr>
              <a:spcBef>
                <a:spcPts val="600"/>
              </a:spcBef>
            </a:pPr>
            <a:r>
              <a:rPr lang="en-US" sz="2800" dirty="0" smtClean="0"/>
              <a:t>Architecture focus on loose coupling and extensibility</a:t>
            </a:r>
            <a:endParaRPr lang="en-US" sz="2800" dirty="0" smtClean="0"/>
          </a:p>
          <a:p>
            <a:pPr>
              <a:spcBef>
                <a:spcPts val="600"/>
              </a:spcBef>
            </a:pPr>
            <a:r>
              <a:rPr lang="en-US" sz="2800" dirty="0" smtClean="0"/>
              <a:t>Code refactoring</a:t>
            </a:r>
            <a:endParaRPr lang="en-US" sz="2800" dirty="0" smtClean="0"/>
          </a:p>
          <a:p>
            <a:pPr>
              <a:spcBef>
                <a:spcPts val="600"/>
              </a:spcBef>
            </a:pPr>
            <a:r>
              <a:rPr lang="en-US" sz="2800" dirty="0" smtClean="0"/>
              <a:t>Capture requirements and knowledge in shared online tools</a:t>
            </a:r>
            <a:endParaRPr lang="en-US" sz="2800" dirty="0" smtClean="0"/>
          </a:p>
          <a:p>
            <a:pPr lvl="1">
              <a:spcBef>
                <a:spcPts val="600"/>
              </a:spcBef>
            </a:pPr>
            <a:r>
              <a:rPr lang="en-US" sz="2400" dirty="0" smtClean="0"/>
              <a:t>Metrics database, wiki, code plus docs in subversion</a:t>
            </a:r>
            <a:endParaRPr lang="en-US" sz="2400" dirty="0" smtClean="0"/>
          </a:p>
          <a:p>
            <a:pPr>
              <a:spcBef>
                <a:spcPts val="600"/>
              </a:spcBef>
            </a:pPr>
            <a:r>
              <a:rPr lang="en-US" sz="2800" dirty="0" smtClean="0"/>
              <a:t>Final QA accomplished by the business analysts with deep knowledge of education data</a:t>
            </a:r>
            <a:endParaRPr lang="en-US" sz="2800" dirty="0" smtClean="0"/>
          </a:p>
          <a:p>
            <a:pPr lvl="1">
              <a:spcBef>
                <a:spcPts val="600"/>
              </a:spcBef>
            </a:pPr>
            <a:r>
              <a:rPr lang="en-US" sz="2400" dirty="0" smtClean="0"/>
              <a:t>“Done-done-done”</a:t>
            </a:r>
            <a:endParaRPr lang="en-US" sz="2400"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results on TSDS</a:t>
            </a:r>
            <a:endParaRPr lang="en-US" dirty="0"/>
          </a:p>
        </p:txBody>
      </p:sp>
      <p:sp>
        <p:nvSpPr>
          <p:cNvPr id="4" name="Text Placeholder 3"/>
          <p:cNvSpPr>
            <a:spLocks noGrp="1"/>
          </p:cNvSpPr>
          <p:nvPr>
            <p:ph type="body" idx="1"/>
          </p:nvPr>
        </p:nvSpPr>
        <p:spPr/>
        <p:txBody>
          <a:bodyPr>
            <a:noAutofit/>
          </a:bodyPr>
          <a:lstStyle/>
          <a:p>
            <a:pPr algn="l"/>
            <a:r>
              <a:rPr lang="en-US" dirty="0" smtClean="0"/>
              <a:t>Year 1: Iterate and perfect different features</a:t>
            </a:r>
            <a:endParaRPr lang="en-US" dirty="0"/>
          </a:p>
        </p:txBody>
      </p:sp>
      <p:sp>
        <p:nvSpPr>
          <p:cNvPr id="5" name="Content Placeholder 4"/>
          <p:cNvSpPr>
            <a:spLocks noGrp="1"/>
          </p:cNvSpPr>
          <p:nvPr>
            <p:ph sz="half" idx="2"/>
          </p:nvPr>
        </p:nvSpPr>
        <p:spPr>
          <a:xfrm>
            <a:off x="1981200" y="2174875"/>
            <a:ext cx="4040188" cy="3616325"/>
          </a:xfrm>
        </p:spPr>
        <p:txBody>
          <a:bodyPr>
            <a:normAutofit/>
          </a:bodyPr>
          <a:lstStyle/>
          <a:p>
            <a:r>
              <a:rPr lang="en-US" sz="2000" dirty="0" smtClean="0"/>
              <a:t>Rapid iterations with users and customers</a:t>
            </a:r>
            <a:endParaRPr lang="en-US" sz="2000" dirty="0" smtClean="0"/>
          </a:p>
          <a:p>
            <a:pPr lvl="1"/>
            <a:r>
              <a:rPr lang="en-US" sz="1800" dirty="0" smtClean="0"/>
              <a:t>UI look and feel</a:t>
            </a:r>
            <a:endParaRPr lang="en-US" sz="1800" dirty="0" smtClean="0"/>
          </a:p>
          <a:p>
            <a:pPr lvl="1"/>
            <a:r>
              <a:rPr lang="en-US" sz="1800" dirty="0" smtClean="0"/>
              <a:t>Metric definitions</a:t>
            </a:r>
            <a:endParaRPr lang="en-US" sz="1800" dirty="0" smtClean="0"/>
          </a:p>
          <a:p>
            <a:pPr lvl="1"/>
            <a:r>
              <a:rPr lang="en-US" sz="1800" dirty="0" smtClean="0"/>
              <a:t>Data anomalies</a:t>
            </a:r>
            <a:endParaRPr lang="en-US" sz="1800" dirty="0" smtClean="0"/>
          </a:p>
          <a:p>
            <a:pPr lvl="1"/>
            <a:r>
              <a:rPr lang="en-US" sz="1800" dirty="0" smtClean="0"/>
              <a:t>Key features and drilldowns</a:t>
            </a:r>
            <a:endParaRPr lang="en-US" sz="1800" dirty="0" smtClean="0"/>
          </a:p>
          <a:p>
            <a:r>
              <a:rPr lang="en-US" sz="2000" dirty="0" smtClean="0"/>
              <a:t>Evolved and proved the process, the architecture, and factory for development</a:t>
            </a:r>
            <a:endParaRPr lang="en-US" sz="2000" dirty="0"/>
          </a:p>
        </p:txBody>
      </p:sp>
      <p:sp>
        <p:nvSpPr>
          <p:cNvPr id="6" name="Text Placeholder 5"/>
          <p:cNvSpPr>
            <a:spLocks noGrp="1"/>
          </p:cNvSpPr>
          <p:nvPr>
            <p:ph type="body" sz="quarter" idx="3"/>
          </p:nvPr>
        </p:nvSpPr>
        <p:spPr/>
        <p:txBody>
          <a:bodyPr>
            <a:noAutofit/>
          </a:bodyPr>
          <a:lstStyle/>
          <a:p>
            <a:pPr algn="l"/>
            <a:r>
              <a:rPr lang="en-US" dirty="0" smtClean="0"/>
              <a:t>Year 2: Build out the features, productize and scale</a:t>
            </a:r>
            <a:endParaRPr lang="en-US" dirty="0"/>
          </a:p>
        </p:txBody>
      </p:sp>
      <p:sp>
        <p:nvSpPr>
          <p:cNvPr id="7" name="Content Placeholder 6"/>
          <p:cNvSpPr>
            <a:spLocks noGrp="1"/>
          </p:cNvSpPr>
          <p:nvPr>
            <p:ph sz="quarter" idx="4"/>
          </p:nvPr>
        </p:nvSpPr>
        <p:spPr>
          <a:xfrm>
            <a:off x="5791200" y="2133600"/>
            <a:ext cx="4041775" cy="3006725"/>
          </a:xfrm>
        </p:spPr>
        <p:txBody>
          <a:bodyPr>
            <a:normAutofit/>
          </a:bodyPr>
          <a:lstStyle/>
          <a:p>
            <a:r>
              <a:rPr lang="en-US" sz="2000" dirty="0" smtClean="0"/>
              <a:t>Incrementally delivered a significant dashboard application</a:t>
            </a:r>
            <a:endParaRPr lang="en-US" sz="2000" dirty="0" smtClean="0"/>
          </a:p>
          <a:p>
            <a:r>
              <a:rPr lang="en-US" sz="2000" dirty="0" smtClean="0"/>
              <a:t>Several refactoring passes</a:t>
            </a:r>
            <a:endParaRPr lang="en-US" sz="2000" dirty="0" smtClean="0"/>
          </a:p>
          <a:p>
            <a:r>
              <a:rPr lang="en-US" sz="2000" dirty="0" smtClean="0"/>
              <a:t>Incrementally on-boarded new LPR districts</a:t>
            </a:r>
            <a:endParaRPr lang="en-US" sz="2000" dirty="0" smtClean="0"/>
          </a:p>
          <a:p>
            <a:r>
              <a:rPr lang="en-US" sz="2000" dirty="0" smtClean="0"/>
              <a:t>Integrated user support into the development process</a:t>
            </a:r>
            <a:endParaRPr lang="en-US" sz="2000" dirty="0"/>
          </a:p>
        </p:txBody>
      </p:sp>
      <p:sp>
        <p:nvSpPr>
          <p:cNvPr id="8" name="TextBox 7"/>
          <p:cNvSpPr txBox="1"/>
          <p:nvPr/>
        </p:nvSpPr>
        <p:spPr>
          <a:xfrm>
            <a:off x="1828800" y="5277394"/>
            <a:ext cx="6996430" cy="1198880"/>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solidFill>
                  <a:schemeClr val="accent1">
                    <a:lumMod val="75000"/>
                  </a:schemeClr>
                </a:solidFill>
              </a:rPr>
              <a:t>C</a:t>
            </a:r>
            <a:r>
              <a:rPr lang="en-US" sz="2400" b="1" dirty="0" smtClean="0">
                <a:solidFill>
                  <a:schemeClr val="accent1">
                    <a:lumMod val="75000"/>
                  </a:schemeClr>
                </a:solidFill>
              </a:rPr>
              <a:t>onsistently met all major milestones under budget</a:t>
            </a:r>
            <a:endParaRPr lang="en-US" sz="2400" b="1" dirty="0" smtClean="0">
              <a:solidFill>
                <a:schemeClr val="accent1">
                  <a:lumMod val="75000"/>
                </a:schemeClr>
              </a:solidFill>
            </a:endParaRPr>
          </a:p>
          <a:p>
            <a:pPr marL="285750" indent="-285750">
              <a:buFont typeface="Wingdings" panose="05000000000000000000" pitchFamily="2" charset="2"/>
              <a:buChar char="Ø"/>
            </a:pPr>
            <a:r>
              <a:rPr lang="en-US" sz="2400" b="1" dirty="0" smtClean="0">
                <a:solidFill>
                  <a:schemeClr val="accent1">
                    <a:lumMod val="75000"/>
                  </a:schemeClr>
                </a:solidFill>
              </a:rPr>
              <a:t>Exceeded the expectations of our customer</a:t>
            </a:r>
            <a:endParaRPr lang="en-US" sz="2400" b="1" dirty="0" smtClean="0">
              <a:solidFill>
                <a:schemeClr val="accent1">
                  <a:lumMod val="75000"/>
                </a:schemeClr>
              </a:solidFill>
            </a:endParaRPr>
          </a:p>
          <a:p>
            <a:pPr marL="285750" indent="-285750">
              <a:buFont typeface="Wingdings" panose="05000000000000000000" pitchFamily="2" charset="2"/>
              <a:buChar char="Ø"/>
            </a:pPr>
            <a:r>
              <a:rPr lang="en-US" sz="2400" b="1" dirty="0" smtClean="0">
                <a:solidFill>
                  <a:schemeClr val="accent1">
                    <a:lumMod val="75000"/>
                  </a:schemeClr>
                </a:solidFill>
              </a:rPr>
              <a:t>Received high praises from users for usability</a:t>
            </a:r>
            <a:endParaRPr lang="en-US" sz="2400" b="1"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How can this be applied to an </a:t>
            </a:r>
            <a:br>
              <a:rPr lang="en-US" sz="3600" dirty="0" smtClean="0"/>
            </a:br>
            <a:r>
              <a:rPr lang="en-US" sz="3600" dirty="0" smtClean="0"/>
              <a:t>SEA implementation?</a:t>
            </a:r>
            <a:endParaRPr lang="en-US" sz="3600" dirty="0"/>
          </a:p>
        </p:txBody>
      </p:sp>
      <p:sp>
        <p:nvSpPr>
          <p:cNvPr id="3" name="Content Placeholder 2"/>
          <p:cNvSpPr>
            <a:spLocks noGrp="1"/>
          </p:cNvSpPr>
          <p:nvPr>
            <p:ph idx="1"/>
          </p:nvPr>
        </p:nvSpPr>
        <p:spPr/>
        <p:txBody>
          <a:bodyPr>
            <a:normAutofit fontScale="90000" lnSpcReduction="10000"/>
          </a:bodyPr>
          <a:lstStyle/>
          <a:p>
            <a:r>
              <a:rPr lang="en-US" dirty="0" smtClean="0"/>
              <a:t>Get the “agile” mindset – will require a change in values</a:t>
            </a:r>
            <a:endParaRPr lang="en-US" dirty="0" smtClean="0"/>
          </a:p>
          <a:p>
            <a:pPr lvl="1"/>
            <a:r>
              <a:rPr lang="en-US" dirty="0" smtClean="0"/>
              <a:t>Manage to a prioritized roadmap, not to a specification</a:t>
            </a:r>
            <a:endParaRPr lang="en-US" dirty="0" smtClean="0"/>
          </a:p>
          <a:p>
            <a:r>
              <a:rPr lang="en-US" dirty="0" smtClean="0"/>
              <a:t>“Wrap” an agile process in a more conventional project management structure</a:t>
            </a:r>
            <a:endParaRPr lang="en-US" dirty="0" smtClean="0"/>
          </a:p>
          <a:p>
            <a:r>
              <a:rPr lang="en-US" dirty="0" smtClean="0"/>
              <a:t>Focus on building the right team</a:t>
            </a:r>
            <a:endParaRPr lang="en-US" dirty="0" smtClean="0"/>
          </a:p>
          <a:p>
            <a:pPr lvl="1"/>
            <a:r>
              <a:rPr lang="en-US" dirty="0" smtClean="0"/>
              <a:t>Agile works best with small teams of highly competent, highly motivated individuals</a:t>
            </a:r>
            <a:endParaRPr lang="en-US" dirty="0" smtClean="0"/>
          </a:p>
          <a:p>
            <a:pPr lvl="1"/>
            <a:r>
              <a:rPr lang="en-US" dirty="0" smtClean="0"/>
              <a:t>If an internal team without agile experience, invest in some training</a:t>
            </a:r>
            <a:endParaRPr lang="en-US" dirty="0" smtClean="0"/>
          </a:p>
          <a:p>
            <a:pPr lvl="1"/>
            <a:r>
              <a:rPr lang="en-US" dirty="0" smtClean="0"/>
              <a:t>If selecting a vendor, make sure they have deep experience with agile – and check their references</a:t>
            </a:r>
            <a:endParaRPr lang="en-US" dirty="0" smtClean="0"/>
          </a:p>
          <a:p>
            <a:r>
              <a:rPr lang="en-US" dirty="0" smtClean="0"/>
              <a:t>Staff for a highly collaborative process</a:t>
            </a:r>
            <a:endParaRPr lang="en-US" dirty="0" smtClean="0"/>
          </a:p>
          <a:p>
            <a:pPr lvl="1"/>
            <a:r>
              <a:rPr lang="en-US" dirty="0" smtClean="0"/>
              <a:t>Full-time attention will be required</a:t>
            </a:r>
            <a:endParaRPr lang="en-US" dirty="0" smtClean="0"/>
          </a:p>
          <a:p>
            <a:pPr lvl="1"/>
            <a:r>
              <a:rPr lang="en-US" dirty="0" smtClean="0"/>
              <a:t>Critical to involve end-users through the process</a:t>
            </a:r>
            <a:endParaRPr lang="en-US" dirty="0" smtClean="0"/>
          </a:p>
          <a:p>
            <a:pPr lvl="1"/>
            <a:endParaRPr lang="en-US"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Autofit/>
          </a:bodyPr>
          <a:lstStyle/>
          <a:p>
            <a:r>
              <a:rPr lang="en-US" sz="3200" dirty="0" smtClean="0"/>
              <a:t>Wrap an agile process in a conventional project/product management process</a:t>
            </a:r>
            <a:endParaRPr lang="en-US" sz="3200" dirty="0"/>
          </a:p>
        </p:txBody>
      </p:sp>
      <p:sp>
        <p:nvSpPr>
          <p:cNvPr id="4" name="Content Placeholder 3"/>
          <p:cNvSpPr>
            <a:spLocks noGrp="1"/>
          </p:cNvSpPr>
          <p:nvPr>
            <p:ph idx="1"/>
          </p:nvPr>
        </p:nvSpPr>
        <p:spPr>
          <a:xfrm>
            <a:off x="1981200" y="5102689"/>
            <a:ext cx="8229600" cy="1229264"/>
          </a:xfrm>
        </p:spPr>
        <p:txBody>
          <a:bodyPr>
            <a:normAutofit lnSpcReduction="20000"/>
          </a:bodyPr>
          <a:lstStyle/>
          <a:p>
            <a:r>
              <a:rPr lang="en-US" dirty="0" smtClean="0">
                <a:solidFill>
                  <a:schemeClr val="accent1">
                    <a:lumMod val="75000"/>
                  </a:schemeClr>
                </a:solidFill>
              </a:rPr>
              <a:t>Requires continuous collaboration</a:t>
            </a:r>
            <a:endParaRPr lang="en-US" dirty="0" smtClean="0">
              <a:solidFill>
                <a:schemeClr val="accent1">
                  <a:lumMod val="75000"/>
                </a:schemeClr>
              </a:solidFill>
            </a:endParaRPr>
          </a:p>
          <a:p>
            <a:r>
              <a:rPr lang="en-US" dirty="0" smtClean="0">
                <a:solidFill>
                  <a:schemeClr val="accent1">
                    <a:lumMod val="75000"/>
                  </a:schemeClr>
                </a:solidFill>
              </a:rPr>
              <a:t>Healthy “tension” between the project/product manager and the development leads</a:t>
            </a:r>
            <a:endParaRPr lang="en-US" dirty="0">
              <a:solidFill>
                <a:schemeClr val="accent1">
                  <a:lumMod val="75000"/>
                </a:schemeClr>
              </a:solidFill>
            </a:endParaRPr>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524000" y="1447800"/>
            <a:ext cx="8457158" cy="350520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41605"/>
            <a:ext cx="10515600" cy="1325563"/>
          </a:xfrm>
        </p:spPr>
        <p:txBody>
          <a:bodyPr/>
          <a:p>
            <a:pPr algn="ctr"/>
            <a:r>
              <a:rPr lang="en-IN" altLang="en-US">
                <a:solidFill>
                  <a:srgbClr val="FF0000"/>
                </a:solidFill>
              </a:rPr>
              <a:t>Difference between Agile and SDLC</a:t>
            </a:r>
            <a:endParaRPr lang="en-IN" altLang="en-US">
              <a:solidFill>
                <a:srgbClr val="FF0000"/>
              </a:solidFill>
            </a:endParaRPr>
          </a:p>
        </p:txBody>
      </p:sp>
      <p:graphicFrame>
        <p:nvGraphicFramePr>
          <p:cNvPr id="4" name="Table 3"/>
          <p:cNvGraphicFramePr/>
          <p:nvPr>
            <p:custDataLst>
              <p:tags r:id="rId1"/>
            </p:custDataLst>
          </p:nvPr>
        </p:nvGraphicFramePr>
        <p:xfrm>
          <a:off x="72390" y="1061720"/>
          <a:ext cx="11995785" cy="5554980"/>
        </p:xfrm>
        <a:graphic>
          <a:graphicData uri="http://schemas.openxmlformats.org/drawingml/2006/table">
            <a:tbl>
              <a:tblPr/>
              <a:tblGrid>
                <a:gridCol w="3150235"/>
                <a:gridCol w="4871085"/>
                <a:gridCol w="3974465"/>
              </a:tblGrid>
              <a:tr h="584200">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Aspect</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AGILE</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SDLC</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628650">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Definition</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Agile is a methodology following an  iterative approach used for project management purposes.</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SDLC is a process of design and development of a product or service.</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860425">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Ease of Use</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It is easier to use and implement.</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Software Development Life Cycle is easy to understand and needs little systematic approach for implementation.</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628650">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Origin and History</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It came out in 2001 and it was made by a joint collaboration of 17 software developers.</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Software Development Life Cycle was found in 1960.</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398780">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Structure</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Agile constitutes of different phases.</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SDLC constitutes of different stages</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398780">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Approach Speed</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Agile has a faster approach comparatively.</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SDLC has a systematic approach.</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398145">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Project Suitability</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Agile is more suited for small scale projects.</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SDLC can be used for any sized projects</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629285">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Flexibility</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Agile allows dynamic changes in requirements.</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SDLC doesn't allow changes after initial stage.</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398780">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Process Flow</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It follows a continuous cycle.</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It follows a sequential stages.</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629285">
                <a:tc>
                  <a:txBody>
                    <a:bodyPr/>
                    <a:p>
                      <a:pPr marL="0" indent="0" algn="ctr" fontAlgn="base">
                        <a:spcBef>
                          <a:spcPct val="0"/>
                        </a:spcBef>
                        <a:spcAft>
                          <a:spcPct val="0"/>
                        </a:spcAft>
                      </a:pPr>
                      <a:r>
                        <a:rPr sz="1400" b="1" i="0">
                          <a:solidFill>
                            <a:srgbClr val="FF0000"/>
                          </a:solidFill>
                          <a:latin typeface="Calibri" panose="020F0502020204030204" charset="0"/>
                          <a:ea typeface="Nunito"/>
                          <a:cs typeface="Calibri" panose="020F0502020204030204" charset="0"/>
                        </a:rPr>
                        <a:t>Stakeholder Involvement</a:t>
                      </a:r>
                      <a:endParaRPr sz="1400" b="1"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It requires close customer involvement.</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FF0000"/>
                          </a:solidFill>
                          <a:latin typeface="Calibri" panose="020F0502020204030204" charset="0"/>
                          <a:ea typeface="Nunito"/>
                          <a:cs typeface="Calibri" panose="020F0502020204030204" charset="0"/>
                        </a:rPr>
                        <a:t>It requires close project manager involvement.</a:t>
                      </a:r>
                      <a:endParaRPr sz="1400" b="0" i="0">
                        <a:solidFill>
                          <a:srgbClr val="FF0000"/>
                        </a:solidFill>
                        <a:latin typeface="Calibri" panose="020F0502020204030204" charset="0"/>
                        <a:ea typeface="Nunito"/>
                        <a:cs typeface="Calibri" panose="020F0502020204030204" charset="0"/>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solidFill>
                  <a:srgbClr val="FF0000"/>
                </a:solidFill>
                <a:sym typeface="+mn-ea"/>
              </a:rPr>
              <a:t>Key Agile Metrics</a:t>
            </a:r>
            <a:endParaRPr lang="en-US" b="1"/>
          </a:p>
        </p:txBody>
      </p:sp>
      <p:sp>
        <p:nvSpPr>
          <p:cNvPr id="3" name="Content Placeholder 2"/>
          <p:cNvSpPr>
            <a:spLocks noGrp="1"/>
          </p:cNvSpPr>
          <p:nvPr>
            <p:ph idx="1"/>
          </p:nvPr>
        </p:nvSpPr>
        <p:spPr>
          <a:xfrm>
            <a:off x="614045" y="2000250"/>
            <a:ext cx="10739755" cy="4681855"/>
          </a:xfrm>
        </p:spPr>
        <p:txBody>
          <a:bodyPr>
            <a:normAutofit fontScale="75000"/>
          </a:bodyPr>
          <a:p>
            <a:pPr marL="0" indent="0">
              <a:buNone/>
            </a:pPr>
            <a:r>
              <a:rPr lang="en-US" altLang="en-US" b="1">
                <a:solidFill>
                  <a:srgbClr val="FF0000"/>
                </a:solidFill>
              </a:rPr>
              <a:t>Velocity</a:t>
            </a:r>
            <a:r>
              <a:rPr lang="en-US" altLang="en-US">
                <a:solidFill>
                  <a:srgbClr val="FF0000"/>
                </a:solidFill>
              </a:rPr>
              <a:t>: Amount of work (story points) a team completes per sprint, helps with future planning.</a:t>
            </a:r>
            <a:endParaRPr lang="en-US" altLang="en-US">
              <a:solidFill>
                <a:srgbClr val="FF0000"/>
              </a:solidFill>
            </a:endParaRPr>
          </a:p>
          <a:p>
            <a:pPr marL="0" indent="0">
              <a:buNone/>
            </a:pPr>
            <a:r>
              <a:rPr lang="en-US" altLang="en-US" b="1">
                <a:solidFill>
                  <a:srgbClr val="FF0000"/>
                </a:solidFill>
              </a:rPr>
              <a:t>Cycle Time/Lead Time:</a:t>
            </a:r>
            <a:r>
              <a:rPr lang="en-US" altLang="en-US">
                <a:solidFill>
                  <a:srgbClr val="FF0000"/>
                </a:solidFill>
              </a:rPr>
              <a:t> Time from task start to finish, revealing efficiency.</a:t>
            </a:r>
            <a:endParaRPr lang="en-US" altLang="en-US">
              <a:solidFill>
                <a:srgbClr val="FF0000"/>
              </a:solidFill>
            </a:endParaRPr>
          </a:p>
          <a:p>
            <a:pPr marL="0" indent="0">
              <a:buNone/>
            </a:pPr>
            <a:r>
              <a:rPr lang="en-US" altLang="en-US">
                <a:solidFill>
                  <a:srgbClr val="FF0000"/>
                </a:solidFill>
              </a:rPr>
              <a:t>Throughput/Work Items Completed: Number of items finished in a timeframe (Kanban focus).</a:t>
            </a:r>
            <a:endParaRPr lang="en-US" altLang="en-US">
              <a:solidFill>
                <a:srgbClr val="FF0000"/>
              </a:solidFill>
            </a:endParaRPr>
          </a:p>
          <a:p>
            <a:pPr marL="0" indent="0">
              <a:buNone/>
            </a:pPr>
            <a:r>
              <a:rPr lang="en-US" altLang="en-US" b="1">
                <a:solidFill>
                  <a:srgbClr val="FF0000"/>
                </a:solidFill>
              </a:rPr>
              <a:t>Sprint Burndown/Burnup: </a:t>
            </a:r>
            <a:r>
              <a:rPr lang="en-US" altLang="en-US">
                <a:solidFill>
                  <a:srgbClr val="FF0000"/>
                </a:solidFill>
              </a:rPr>
              <a:t>Tracks work remaining/completed in a sprint.</a:t>
            </a:r>
            <a:endParaRPr lang="en-US" altLang="en-US">
              <a:solidFill>
                <a:srgbClr val="FF0000"/>
              </a:solidFill>
            </a:endParaRPr>
          </a:p>
          <a:p>
            <a:pPr marL="0" indent="0">
              <a:buNone/>
            </a:pPr>
            <a:r>
              <a:rPr lang="en-US" altLang="en-US" b="1">
                <a:solidFill>
                  <a:srgbClr val="FF0000"/>
                </a:solidFill>
              </a:rPr>
              <a:t>Cumulative Flow Diagram (CFD):</a:t>
            </a:r>
            <a:r>
              <a:rPr lang="en-US" altLang="en-US">
                <a:solidFill>
                  <a:srgbClr val="FF0000"/>
                </a:solidFill>
              </a:rPr>
              <a:t> Visualizes work in different states (To Do, In Progress, Done) to spot bottlenecks.</a:t>
            </a:r>
            <a:endParaRPr lang="en-US" altLang="en-US">
              <a:solidFill>
                <a:srgbClr val="FF0000"/>
              </a:solidFill>
            </a:endParaRPr>
          </a:p>
          <a:p>
            <a:pPr marL="0" indent="0">
              <a:buNone/>
            </a:pPr>
            <a:r>
              <a:rPr lang="en-US" altLang="en-US" b="1">
                <a:solidFill>
                  <a:srgbClr val="FF0000"/>
                </a:solidFill>
              </a:rPr>
              <a:t>Defect Escape Rate/Escaped Defects:</a:t>
            </a:r>
            <a:r>
              <a:rPr lang="en-US" altLang="en-US">
                <a:solidFill>
                  <a:srgbClr val="FF0000"/>
                </a:solidFill>
              </a:rPr>
              <a:t> Bugs found after release, indicating quality issues.</a:t>
            </a:r>
            <a:endParaRPr lang="en-US" altLang="en-US">
              <a:solidFill>
                <a:srgbClr val="FF0000"/>
              </a:solidFill>
            </a:endParaRPr>
          </a:p>
          <a:p>
            <a:pPr marL="0" indent="0">
              <a:buNone/>
            </a:pPr>
            <a:r>
              <a:rPr lang="en-US" altLang="en-US" b="1">
                <a:solidFill>
                  <a:srgbClr val="FF0000"/>
                </a:solidFill>
              </a:rPr>
              <a:t>Time-to-Market:</a:t>
            </a:r>
            <a:r>
              <a:rPr lang="en-US" altLang="en-US">
                <a:solidFill>
                  <a:srgbClr val="FF0000"/>
                </a:solidFill>
              </a:rPr>
              <a:t> How long it takes to deliver new features or updates.</a:t>
            </a:r>
            <a:endParaRPr lang="en-US" altLang="en-US">
              <a:solidFill>
                <a:srgbClr val="FF0000"/>
              </a:solidFill>
            </a:endParaRPr>
          </a:p>
          <a:p>
            <a:pPr marL="0" indent="0">
              <a:buNone/>
            </a:pPr>
            <a:r>
              <a:rPr lang="en-US" altLang="en-US" b="1">
                <a:solidFill>
                  <a:srgbClr val="FF0000"/>
                </a:solidFill>
              </a:rPr>
              <a:t>Technical Debt:</a:t>
            </a:r>
            <a:r>
              <a:rPr lang="en-US" altLang="en-US">
                <a:solidFill>
                  <a:srgbClr val="FF0000"/>
                </a:solidFill>
              </a:rPr>
              <a:t> Measures effort spent on maintenance vs. new features, affecting long-term agility. </a:t>
            </a:r>
            <a:endParaRPr lang="en-US" altLang="en-US">
              <a:solidFill>
                <a:srgbClr val="FF0000"/>
              </a:solidFill>
            </a:endParaRPr>
          </a:p>
          <a:p>
            <a:pPr marL="0" indent="0">
              <a:buNone/>
            </a:pPr>
            <a:endParaRPr lang="en-US" altLang="en-US">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a:solidFill>
                  <a:srgbClr val="FF0000"/>
                </a:solidFill>
                <a:sym typeface="+mn-ea"/>
              </a:rPr>
              <a:t>Purpose of Agile Reporting</a:t>
            </a:r>
            <a:endParaRPr lang="en-US"/>
          </a:p>
        </p:txBody>
      </p:sp>
      <p:sp>
        <p:nvSpPr>
          <p:cNvPr id="3" name="Content Placeholder 2"/>
          <p:cNvSpPr>
            <a:spLocks noGrp="1"/>
          </p:cNvSpPr>
          <p:nvPr>
            <p:ph idx="1"/>
          </p:nvPr>
        </p:nvSpPr>
        <p:spPr>
          <a:xfrm>
            <a:off x="518795" y="1878965"/>
            <a:ext cx="10983595" cy="4298315"/>
          </a:xfrm>
        </p:spPr>
        <p:txBody>
          <a:bodyPr>
            <a:normAutofit fontScale="70000"/>
          </a:bodyPr>
          <a:p>
            <a:pPr marL="0" indent="0">
              <a:buNone/>
            </a:pPr>
            <a:r>
              <a:rPr lang="en-US" altLang="en-US" sz="2665" b="1">
                <a:solidFill>
                  <a:srgbClr val="FF0000"/>
                </a:solidFill>
                <a:sym typeface="+mn-ea"/>
              </a:rPr>
              <a:t>Improvement: </a:t>
            </a:r>
            <a:r>
              <a:rPr lang="en-US" altLang="en-US" sz="2665">
                <a:solidFill>
                  <a:srgbClr val="FF0000"/>
                </a:solidFill>
                <a:sym typeface="+mn-ea"/>
              </a:rPr>
              <a:t>Identify areas for process refinement (e.g., bottlenecks, skill gaps).</a:t>
            </a:r>
            <a:endParaRPr lang="en-US" altLang="en-US" sz="2665">
              <a:solidFill>
                <a:srgbClr val="FF0000"/>
              </a:solidFill>
            </a:endParaRPr>
          </a:p>
          <a:p>
            <a:pPr marL="0" indent="0">
              <a:buNone/>
            </a:pPr>
            <a:r>
              <a:rPr lang="en-US" altLang="en-US" sz="2665" b="1">
                <a:solidFill>
                  <a:srgbClr val="FF0000"/>
                </a:solidFill>
                <a:sym typeface="+mn-ea"/>
              </a:rPr>
              <a:t>Predictability:</a:t>
            </a:r>
            <a:r>
              <a:rPr lang="en-US" altLang="en-US" sz="2665">
                <a:solidFill>
                  <a:srgbClr val="FF0000"/>
                </a:solidFill>
                <a:sym typeface="+mn-ea"/>
              </a:rPr>
              <a:t> Forecast delivery with greater accuracy using historical data.</a:t>
            </a:r>
            <a:endParaRPr lang="en-US" altLang="en-US" sz="2665">
              <a:solidFill>
                <a:srgbClr val="FF0000"/>
              </a:solidFill>
            </a:endParaRPr>
          </a:p>
          <a:p>
            <a:pPr marL="0" indent="0">
              <a:buNone/>
            </a:pPr>
            <a:r>
              <a:rPr lang="en-US" altLang="en-US" sz="2665">
                <a:solidFill>
                  <a:srgbClr val="FF0000"/>
                </a:solidFill>
                <a:sym typeface="+mn-ea"/>
              </a:rPr>
              <a:t>Transparency &amp; Alignment: Provide stakeholders with clear progress and value demonstration.</a:t>
            </a:r>
            <a:endParaRPr lang="en-US" altLang="en-US" sz="2665">
              <a:solidFill>
                <a:srgbClr val="FF0000"/>
              </a:solidFill>
            </a:endParaRPr>
          </a:p>
          <a:p>
            <a:pPr marL="0" indent="0">
              <a:buNone/>
            </a:pPr>
            <a:r>
              <a:rPr lang="en-US" altLang="en-US" sz="2665">
                <a:solidFill>
                  <a:srgbClr val="FF0000"/>
                </a:solidFill>
                <a:sym typeface="+mn-ea"/>
              </a:rPr>
              <a:t>Data-Driven Decisions: Support teams in making informed choices about their work. </a:t>
            </a:r>
            <a:endParaRPr lang="en-US" altLang="en-US" sz="2665">
              <a:solidFill>
                <a:srgbClr val="FF0000"/>
              </a:solidFill>
            </a:endParaRPr>
          </a:p>
          <a:p>
            <a:pPr marL="0" indent="0">
              <a:buNone/>
            </a:pPr>
            <a:r>
              <a:rPr lang="en-US" altLang="en-US" sz="2665">
                <a:solidFill>
                  <a:srgbClr val="FF0000"/>
                </a:solidFill>
                <a:sym typeface="+mn-ea"/>
              </a:rPr>
              <a:t>Reporting Best Practices</a:t>
            </a:r>
            <a:endParaRPr lang="en-US" altLang="en-US" sz="2665">
              <a:solidFill>
                <a:srgbClr val="FF0000"/>
              </a:solidFill>
            </a:endParaRPr>
          </a:p>
          <a:p>
            <a:pPr marL="0" indent="0">
              <a:buNone/>
            </a:pPr>
            <a:r>
              <a:rPr lang="en-US" altLang="en-US" sz="2665" b="1">
                <a:solidFill>
                  <a:srgbClr val="FF0000"/>
                </a:solidFill>
                <a:sym typeface="+mn-ea"/>
              </a:rPr>
              <a:t>Focus on Value: </a:t>
            </a:r>
            <a:r>
              <a:rPr lang="en-US" altLang="en-US" sz="2665">
                <a:solidFill>
                  <a:srgbClr val="FF0000"/>
                </a:solidFill>
                <a:sym typeface="+mn-ea"/>
              </a:rPr>
              <a:t>Measure outcomes (customer satisfaction, value delivered) over just output (features built).</a:t>
            </a:r>
            <a:endParaRPr lang="en-US" altLang="en-US" sz="2665">
              <a:solidFill>
                <a:srgbClr val="FF0000"/>
              </a:solidFill>
            </a:endParaRPr>
          </a:p>
          <a:p>
            <a:pPr marL="0" indent="0">
              <a:buNone/>
            </a:pPr>
            <a:r>
              <a:rPr lang="en-US" altLang="en-US" sz="2665" b="1">
                <a:solidFill>
                  <a:srgbClr val="FF0000"/>
                </a:solidFill>
                <a:sym typeface="+mn-ea"/>
              </a:rPr>
              <a:t>Team-Centric:</a:t>
            </a:r>
            <a:r>
              <a:rPr lang="en-US" altLang="en-US" sz="2665">
                <a:solidFill>
                  <a:srgbClr val="FF0000"/>
                </a:solidFill>
                <a:sym typeface="+mn-ea"/>
              </a:rPr>
              <a:t> Metrics should help the team improve, not be used for punishment or micromanagement.</a:t>
            </a:r>
            <a:endParaRPr lang="en-US" altLang="en-US" sz="2665">
              <a:solidFill>
                <a:srgbClr val="FF0000"/>
              </a:solidFill>
            </a:endParaRPr>
          </a:p>
          <a:p>
            <a:pPr marL="0" indent="0">
              <a:buNone/>
            </a:pPr>
            <a:r>
              <a:rPr lang="en-US" altLang="en-US" sz="2665" b="1">
                <a:solidFill>
                  <a:srgbClr val="FF0000"/>
                </a:solidFill>
                <a:sym typeface="+mn-ea"/>
              </a:rPr>
              <a:t>Contextualize Data:</a:t>
            </a:r>
            <a:r>
              <a:rPr lang="en-US" altLang="en-US" sz="2665">
                <a:solidFill>
                  <a:srgbClr val="FF0000"/>
                </a:solidFill>
                <a:sym typeface="+mn-ea"/>
              </a:rPr>
              <a:t> Use metrics to ask the right questions and guide conversations, not just report numbers.</a:t>
            </a:r>
            <a:endParaRPr lang="en-US" altLang="en-US" sz="2665">
              <a:solidFill>
                <a:srgbClr val="FF0000"/>
              </a:solidFill>
            </a:endParaRPr>
          </a:p>
          <a:p>
            <a:pPr marL="0" indent="0">
              <a:buNone/>
            </a:pPr>
            <a:r>
              <a:rPr lang="en-US" altLang="en-US" sz="2665" b="1">
                <a:solidFill>
                  <a:srgbClr val="FF0000"/>
                </a:solidFill>
                <a:sym typeface="+mn-ea"/>
              </a:rPr>
              <a:t>Combine Metrics:</a:t>
            </a:r>
            <a:r>
              <a:rPr lang="en-US" altLang="en-US" sz="2665">
                <a:solidFill>
                  <a:srgbClr val="FF0000"/>
                </a:solidFill>
                <a:sym typeface="+mn-ea"/>
              </a:rPr>
              <a:t> Use various metrics (productivity, quality, flow) for a holistic vie</a:t>
            </a:r>
            <a:endParaRPr lang="en-US" altLang="en-US" sz="2665">
              <a:solidFill>
                <a:srgbClr val="FF0000"/>
              </a:solidFill>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a:solidFill>
                  <a:srgbClr val="FF0000"/>
                </a:solidFill>
                <a:sym typeface="+mn-ea"/>
              </a:rPr>
              <a:t>Software support and maintenance</a:t>
            </a:r>
            <a:endParaRPr lang="en-US"/>
          </a:p>
        </p:txBody>
      </p:sp>
      <p:sp>
        <p:nvSpPr>
          <p:cNvPr id="3" name="Content Placeholder 2"/>
          <p:cNvSpPr>
            <a:spLocks noGrp="1"/>
          </p:cNvSpPr>
          <p:nvPr>
            <p:ph idx="1"/>
          </p:nvPr>
        </p:nvSpPr>
        <p:spPr/>
        <p:txBody>
          <a:bodyPr/>
          <a:p>
            <a:pPr marL="0" indent="0">
              <a:buNone/>
            </a:pPr>
            <a:r>
              <a:rPr lang="en-US" altLang="en-US">
                <a:solidFill>
                  <a:srgbClr val="FF0000"/>
                </a:solidFill>
              </a:rPr>
              <a:t>Software support and maintenance are crucial, ongoing services ensuring software remains functional, secure, and efficient post-deployment, combining reactive support (fixing user-reported issues like bugs) and proactive maintenance (updates, performance tuning, new features) to extend lifespan, prevent downtime, and adapt to new tech, making them essential for business continuity and user satisfaction.</a:t>
            </a:r>
            <a:endParaRPr lang="en-US" altLang="en-US">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a:solidFill>
                  <a:srgbClr val="FF0000"/>
                </a:solidFill>
                <a:sym typeface="+mn-ea"/>
              </a:rPr>
              <a:t>Software support and maintenance</a:t>
            </a:r>
            <a:endParaRPr lang="en-US"/>
          </a:p>
        </p:txBody>
      </p:sp>
      <p:sp>
        <p:nvSpPr>
          <p:cNvPr id="3" name="Content Placeholder 2"/>
          <p:cNvSpPr>
            <a:spLocks noGrp="1"/>
          </p:cNvSpPr>
          <p:nvPr>
            <p:ph idx="1"/>
          </p:nvPr>
        </p:nvSpPr>
        <p:spPr/>
        <p:txBody>
          <a:bodyPr>
            <a:normAutofit fontScale="60000"/>
          </a:bodyPr>
          <a:p>
            <a:pPr marL="0" indent="0">
              <a:buNone/>
            </a:pPr>
            <a:r>
              <a:rPr lang="en-US" altLang="en-US">
                <a:solidFill>
                  <a:srgbClr val="FF0000"/>
                </a:solidFill>
              </a:rPr>
              <a:t>Software Support (Reactive)</a:t>
            </a:r>
            <a:endParaRPr lang="en-US" altLang="en-US">
              <a:solidFill>
                <a:srgbClr val="FF0000"/>
              </a:solidFill>
            </a:endParaRPr>
          </a:p>
          <a:p>
            <a:pPr marL="0" indent="0">
              <a:buNone/>
            </a:pPr>
            <a:r>
              <a:rPr lang="en-US" altLang="en-US">
                <a:solidFill>
                  <a:srgbClr val="FF0000"/>
                </a:solidFill>
              </a:rPr>
              <a:t>Focus: Immediate, user-facing assistance for unexpected problems.</a:t>
            </a:r>
            <a:endParaRPr lang="en-US" altLang="en-US">
              <a:solidFill>
                <a:srgbClr val="FF0000"/>
              </a:solidFill>
            </a:endParaRPr>
          </a:p>
          <a:p>
            <a:pPr marL="0" indent="0">
              <a:buNone/>
            </a:pPr>
            <a:r>
              <a:rPr lang="en-US" altLang="en-US">
                <a:solidFill>
                  <a:srgbClr val="FF0000"/>
                </a:solidFill>
              </a:rPr>
              <a:t>Activities: Troubleshooting crashes, resolving errors, helping users navigate features, ensuring quick fixes for disruptions.</a:t>
            </a:r>
            <a:endParaRPr lang="en-US" altLang="en-US">
              <a:solidFill>
                <a:srgbClr val="FF0000"/>
              </a:solidFill>
            </a:endParaRPr>
          </a:p>
          <a:p>
            <a:pPr marL="0" indent="0">
              <a:buNone/>
            </a:pPr>
            <a:r>
              <a:rPr lang="en-US" altLang="en-US">
                <a:solidFill>
                  <a:srgbClr val="FF0000"/>
                </a:solidFill>
              </a:rPr>
              <a:t>Goal: Minimize downtime, improve user experience, build confidence. </a:t>
            </a:r>
            <a:endParaRPr lang="en-US" altLang="en-US">
              <a:solidFill>
                <a:srgbClr val="FF0000"/>
              </a:solidFill>
            </a:endParaRPr>
          </a:p>
          <a:p>
            <a:pPr marL="0" indent="0">
              <a:buNone/>
            </a:pPr>
            <a:r>
              <a:rPr lang="en-US" altLang="en-US">
                <a:solidFill>
                  <a:srgbClr val="FF0000"/>
                </a:solidFill>
              </a:rPr>
              <a:t>Software Maintenance (Proactive)</a:t>
            </a:r>
            <a:endParaRPr lang="en-US" altLang="en-US">
              <a:solidFill>
                <a:srgbClr val="FF0000"/>
              </a:solidFill>
            </a:endParaRPr>
          </a:p>
          <a:p>
            <a:pPr marL="0" indent="0">
              <a:buNone/>
            </a:pPr>
            <a:r>
              <a:rPr lang="en-US" altLang="en-US">
                <a:solidFill>
                  <a:srgbClr val="FF0000"/>
                </a:solidFill>
              </a:rPr>
              <a:t>Focus: Planned, ongoing improvements and preventative measures.</a:t>
            </a:r>
            <a:endParaRPr lang="en-US" altLang="en-US">
              <a:solidFill>
                <a:srgbClr val="FF0000"/>
              </a:solidFill>
            </a:endParaRPr>
          </a:p>
          <a:p>
            <a:pPr marL="0" indent="0">
              <a:buNone/>
            </a:pPr>
            <a:r>
              <a:rPr lang="en-US" altLang="en-US">
                <a:solidFill>
                  <a:srgbClr val="FF0000"/>
                </a:solidFill>
              </a:rPr>
              <a:t>Types:</a:t>
            </a:r>
            <a:endParaRPr lang="en-US" altLang="en-US">
              <a:solidFill>
                <a:srgbClr val="FF0000"/>
              </a:solidFill>
            </a:endParaRPr>
          </a:p>
          <a:p>
            <a:pPr marL="0" indent="0">
              <a:buNone/>
            </a:pPr>
            <a:r>
              <a:rPr lang="en-US" altLang="en-US">
                <a:solidFill>
                  <a:srgbClr val="FF0000"/>
                </a:solidFill>
              </a:rPr>
              <a:t>Corrective: Fixing bugs not found during testing.</a:t>
            </a:r>
            <a:endParaRPr lang="en-US" altLang="en-US">
              <a:solidFill>
                <a:srgbClr val="FF0000"/>
              </a:solidFill>
            </a:endParaRPr>
          </a:p>
          <a:p>
            <a:pPr marL="0" indent="0">
              <a:buNone/>
            </a:pPr>
            <a:r>
              <a:rPr lang="en-US" altLang="en-US">
                <a:solidFill>
                  <a:srgbClr val="FF0000"/>
                </a:solidFill>
              </a:rPr>
              <a:t>Adaptive: Updating software to work with new OS, hardware, or environments.</a:t>
            </a:r>
            <a:endParaRPr lang="en-US" altLang="en-US">
              <a:solidFill>
                <a:srgbClr val="FF0000"/>
              </a:solidFill>
            </a:endParaRPr>
          </a:p>
          <a:p>
            <a:pPr marL="0" indent="0">
              <a:buNone/>
            </a:pPr>
            <a:r>
              <a:rPr lang="en-US" altLang="en-US">
                <a:solidFill>
                  <a:srgbClr val="FF0000"/>
                </a:solidFill>
              </a:rPr>
              <a:t>Perfective: Enhancing features and performance based on feedback.</a:t>
            </a:r>
            <a:endParaRPr lang="en-US" altLang="en-US">
              <a:solidFill>
                <a:srgbClr val="FF0000"/>
              </a:solidFill>
            </a:endParaRPr>
          </a:p>
          <a:p>
            <a:pPr marL="0" indent="0">
              <a:buNone/>
            </a:pPr>
            <a:r>
              <a:rPr lang="en-US" altLang="en-US">
                <a:solidFill>
                  <a:srgbClr val="FF0000"/>
                </a:solidFill>
              </a:rPr>
              <a:t>Preventive: Mitigating future risks to improve reliability.</a:t>
            </a:r>
            <a:endParaRPr lang="en-US" altLang="en-US">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a:solidFill>
                  <a:srgbClr val="FF0000"/>
                </a:solidFill>
                <a:sym typeface="+mn-ea"/>
              </a:rPr>
              <a:t>Software support and maintenance</a:t>
            </a:r>
            <a:endParaRPr lang="en-US"/>
          </a:p>
        </p:txBody>
      </p:sp>
      <p:sp>
        <p:nvSpPr>
          <p:cNvPr id="3" name="Content Placeholder 2"/>
          <p:cNvSpPr>
            <a:spLocks noGrp="1"/>
          </p:cNvSpPr>
          <p:nvPr>
            <p:ph idx="1"/>
          </p:nvPr>
        </p:nvSpPr>
        <p:spPr/>
        <p:txBody>
          <a:bodyPr>
            <a:normAutofit fontScale="90000" lnSpcReduction="10000"/>
          </a:bodyPr>
          <a:p>
            <a:pPr marL="0" indent="0">
              <a:buNone/>
            </a:pPr>
            <a:r>
              <a:rPr lang="en-US" altLang="en-US">
                <a:solidFill>
                  <a:srgbClr val="FF0000"/>
                </a:solidFill>
              </a:rPr>
              <a:t>Goal: Extend software's life, maintain security, ensure compatibility, and add value. </a:t>
            </a:r>
            <a:endParaRPr lang="en-US" altLang="en-US">
              <a:solidFill>
                <a:srgbClr val="FF0000"/>
              </a:solidFill>
            </a:endParaRPr>
          </a:p>
          <a:p>
            <a:pPr marL="0" indent="0">
              <a:buNone/>
            </a:pPr>
            <a:r>
              <a:rPr lang="en-US" altLang="en-US" b="1">
                <a:solidFill>
                  <a:srgbClr val="FF0000"/>
                </a:solidFill>
              </a:rPr>
              <a:t>Why They Are Essential</a:t>
            </a:r>
            <a:endParaRPr lang="en-US" altLang="en-US" b="1">
              <a:solidFill>
                <a:srgbClr val="FF0000"/>
              </a:solidFill>
            </a:endParaRPr>
          </a:p>
          <a:p>
            <a:pPr marL="0" indent="0">
              <a:buNone/>
            </a:pPr>
            <a:r>
              <a:rPr lang="en-US" altLang="en-US">
                <a:solidFill>
                  <a:srgbClr val="FF0000"/>
                </a:solidFill>
              </a:rPr>
              <a:t>Reliability &amp; Stability: Keeps systems running smoothly.</a:t>
            </a:r>
            <a:endParaRPr lang="en-US" altLang="en-US">
              <a:solidFill>
                <a:srgbClr val="FF0000"/>
              </a:solidFill>
            </a:endParaRPr>
          </a:p>
          <a:p>
            <a:pPr marL="0" indent="0">
              <a:buNone/>
            </a:pPr>
            <a:r>
              <a:rPr lang="en-US" altLang="en-US">
                <a:solidFill>
                  <a:srgbClr val="FF0000"/>
                </a:solidFill>
              </a:rPr>
              <a:t>Security: Patches vulnerabilities against threats.</a:t>
            </a:r>
            <a:endParaRPr lang="en-US" altLang="en-US">
              <a:solidFill>
                <a:srgbClr val="FF0000"/>
              </a:solidFill>
            </a:endParaRPr>
          </a:p>
          <a:p>
            <a:pPr marL="0" indent="0">
              <a:buNone/>
            </a:pPr>
            <a:r>
              <a:rPr lang="en-US" altLang="en-US">
                <a:solidFill>
                  <a:srgbClr val="FF0000"/>
                </a:solidFill>
              </a:rPr>
              <a:t>Cost-Effectiveness: Prevents major failures, which are more expensive.</a:t>
            </a:r>
            <a:endParaRPr lang="en-US" altLang="en-US">
              <a:solidFill>
                <a:srgbClr val="FF0000"/>
              </a:solidFill>
            </a:endParaRPr>
          </a:p>
          <a:p>
            <a:pPr marL="0" indent="0">
              <a:buNone/>
            </a:pPr>
            <a:r>
              <a:rPr lang="en-US" altLang="en-US">
                <a:solidFill>
                  <a:srgbClr val="FF0000"/>
                </a:solidFill>
              </a:rPr>
              <a:t>User Satisfaction: Happy users stay loyal.</a:t>
            </a:r>
            <a:endParaRPr lang="en-US" altLang="en-US">
              <a:solidFill>
                <a:srgbClr val="FF0000"/>
              </a:solidFill>
            </a:endParaRPr>
          </a:p>
          <a:p>
            <a:pPr marL="0" indent="0">
              <a:buNone/>
            </a:pPr>
            <a:r>
              <a:rPr lang="en-US" altLang="en-US">
                <a:solidFill>
                  <a:srgbClr val="FF0000"/>
                </a:solidFill>
              </a:rPr>
              <a:t>Adaptability: Ensures software evolves with technology. </a:t>
            </a:r>
            <a:endParaRPr lang="en-US" altLang="en-US">
              <a:solidFill>
                <a:srgbClr val="FF0000"/>
              </a:solidFill>
            </a:endParaRPr>
          </a:p>
          <a:p>
            <a:pPr marL="0" indent="0">
              <a:buNone/>
            </a:pPr>
            <a:r>
              <a:rPr lang="en-US" altLang="en-US">
                <a:solidFill>
                  <a:srgbClr val="FF0000"/>
                </a:solidFill>
              </a:rPr>
              <a:t>In essence, support is about fixing what's broken now, while maintenance is about preventing future problems and improving overall quality. </a:t>
            </a:r>
            <a:endParaRPr lang="en-US" altLang="en-US">
              <a:solidFill>
                <a:srgbClr val="FF0000"/>
              </a:solidFill>
            </a:endParaRPr>
          </a:p>
          <a:p>
            <a:pPr marL="0" indent="0">
              <a:buNone/>
            </a:pPr>
            <a:endParaRPr lang="en-US" altLang="en-US">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Info on Agile</a:t>
            </a:r>
            <a:endParaRPr lang="en-US" dirty="0"/>
          </a:p>
        </p:txBody>
      </p:sp>
      <p:sp>
        <p:nvSpPr>
          <p:cNvPr id="3" name="Content Placeholder 2"/>
          <p:cNvSpPr>
            <a:spLocks noGrp="1"/>
          </p:cNvSpPr>
          <p:nvPr>
            <p:ph idx="1"/>
          </p:nvPr>
        </p:nvSpPr>
        <p:spPr>
          <a:xfrm>
            <a:off x="1981200" y="1600200"/>
            <a:ext cx="7620000" cy="3276600"/>
          </a:xfrm>
        </p:spPr>
        <p:txBody>
          <a:bodyPr>
            <a:normAutofit fontScale="90000" lnSpcReduction="20000"/>
          </a:bodyPr>
          <a:lstStyle/>
          <a:p>
            <a:r>
              <a:rPr lang="en-US" dirty="0" smtClean="0">
                <a:hlinkClick r:id="rId1"/>
              </a:rPr>
              <a:t>en.wikipedia.org/wiki/Agile_software_development</a:t>
            </a:r>
            <a:endParaRPr lang="en-US" dirty="0" smtClean="0"/>
          </a:p>
          <a:p>
            <a:r>
              <a:rPr lang="en-US" dirty="0" smtClean="0">
                <a:hlinkClick r:id="rId1"/>
              </a:rPr>
              <a:t>www.infoq.com/agile</a:t>
            </a:r>
            <a:r>
              <a:rPr lang="en-US" dirty="0" smtClean="0"/>
              <a:t>  - lots of articles, case studies, free e-books, including Henrik Kniberg’s excellent e-books:</a:t>
            </a:r>
            <a:endParaRPr lang="en-US" dirty="0" smtClean="0"/>
          </a:p>
          <a:p>
            <a:pPr lvl="1"/>
            <a:r>
              <a:rPr lang="en-US" i="1" dirty="0" smtClean="0"/>
              <a:t>Scrum and XP from the Trenches (2007)</a:t>
            </a:r>
            <a:endParaRPr lang="en-US" i="1" dirty="0" smtClean="0"/>
          </a:p>
          <a:p>
            <a:pPr lvl="1"/>
            <a:r>
              <a:rPr lang="en-US" i="1" dirty="0" smtClean="0"/>
              <a:t>Kanban and Scrum – making the most of both (2009)</a:t>
            </a:r>
            <a:endParaRPr lang="en-US" i="1" dirty="0" smtClean="0"/>
          </a:p>
          <a:p>
            <a:r>
              <a:rPr lang="en-US" dirty="0" smtClean="0"/>
              <a:t>Other books:</a:t>
            </a:r>
            <a:endParaRPr lang="en-US" dirty="0" smtClean="0"/>
          </a:p>
          <a:p>
            <a:pPr lvl="1"/>
            <a:r>
              <a:rPr lang="en-US" i="1" dirty="0" smtClean="0"/>
              <a:t>Agile Software Development with Scrum </a:t>
            </a:r>
            <a:r>
              <a:rPr lang="en-US" dirty="0" smtClean="0"/>
              <a:t>(2001), Ken Schwaber and Mike Beedle</a:t>
            </a:r>
            <a:endParaRPr lang="en-US" dirty="0" smtClean="0"/>
          </a:p>
          <a:p>
            <a:pPr lvl="1"/>
            <a:r>
              <a:rPr lang="en-US" i="1" dirty="0" smtClean="0"/>
              <a:t>Scrum in Action </a:t>
            </a:r>
            <a:r>
              <a:rPr lang="en-US" dirty="0" smtClean="0"/>
              <a:t>(2011), Andrew Pham</a:t>
            </a:r>
            <a:endParaRPr lang="en-US" dirty="0" smtClean="0"/>
          </a:p>
          <a:p>
            <a:pPr lvl="1"/>
            <a:endParaRPr lang="en-US" i="1" dirty="0"/>
          </a:p>
        </p:txBody>
      </p:sp>
      <p:sp>
        <p:nvSpPr>
          <p:cNvPr id="4" name="TextBox 3"/>
          <p:cNvSpPr txBox="1"/>
          <p:nvPr/>
        </p:nvSpPr>
        <p:spPr>
          <a:xfrm>
            <a:off x="2286000" y="4953000"/>
            <a:ext cx="6934200" cy="645160"/>
          </a:xfrm>
          <a:prstGeom prst="rect">
            <a:avLst/>
          </a:prstGeom>
          <a:noFill/>
        </p:spPr>
        <p:txBody>
          <a:bodyPr wrap="square" rtlCol="0">
            <a:spAutoFit/>
          </a:bodyPr>
          <a:lstStyle/>
          <a:p>
            <a:r>
              <a:rPr lang="en-US" dirty="0" smtClean="0"/>
              <a:t>These slides available for download at </a:t>
            </a:r>
            <a:r>
              <a:rPr lang="en-US" dirty="0" smtClean="0">
                <a:hlinkClick r:id="rId2"/>
              </a:rPr>
              <a:t>http://www.schoolviz.org/reveal</a:t>
            </a:r>
            <a:endParaRPr lang="en-US" dirty="0" smtClean="0"/>
          </a:p>
          <a:p>
            <a:endParaRPr lang="en-US" dirty="0"/>
          </a:p>
        </p:txBody>
      </p:sp>
      <p:sp>
        <p:nvSpPr>
          <p:cNvPr id="5" name="TextBox 4"/>
          <p:cNvSpPr txBox="1"/>
          <p:nvPr/>
        </p:nvSpPr>
        <p:spPr>
          <a:xfrm>
            <a:off x="2743200" y="5486400"/>
            <a:ext cx="5943600" cy="1198880"/>
          </a:xfrm>
          <a:prstGeom prst="rect">
            <a:avLst/>
          </a:prstGeom>
          <a:noFill/>
        </p:spPr>
        <p:txBody>
          <a:bodyPr wrap="square" rtlCol="0">
            <a:spAutoFit/>
          </a:bodyPr>
          <a:lstStyle/>
          <a:p>
            <a:pPr algn="ctr"/>
            <a:r>
              <a:rPr lang="en-US" b="1" dirty="0" smtClean="0">
                <a:hlinkClick r:id="rId3"/>
              </a:rPr>
              <a:t>adam.warner@region10.org</a:t>
            </a:r>
            <a:endParaRPr lang="en-US" b="1" dirty="0" smtClean="0"/>
          </a:p>
          <a:p>
            <a:pPr algn="ctr"/>
            <a:r>
              <a:rPr lang="en-US" b="1" dirty="0" smtClean="0">
                <a:hlinkClick r:id="rId4"/>
              </a:rPr>
              <a:t>ed@doublelinepartners.com</a:t>
            </a:r>
            <a:endParaRPr lang="en-US" b="1" dirty="0" smtClean="0"/>
          </a:p>
          <a:p>
            <a:pPr algn="ctr"/>
            <a:r>
              <a:rPr lang="en-US" b="1" dirty="0" smtClean="0">
                <a:hlinkClick r:id="rId5"/>
              </a:rPr>
              <a:t>sharon@doublelinepartners.com</a:t>
            </a:r>
            <a:endParaRPr lang="en-US" b="1" dirty="0" smtClean="0"/>
          </a:p>
          <a:p>
            <a:pPr algn="ctr"/>
            <a:endParaRPr lang="en-US" b="1" dirty="0" smtClean="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DIAGRAM_VIRTUALLY_FRAME" val="{&quot;height&quot;:199.19629921259843,&quot;left&quot;:181.09086614173228,&quot;top&quot;:123.80370078740157,&quot;width&quot;:182.65913385826772}"/>
</p:tagLst>
</file>

<file path=ppt/tags/tag2.xml><?xml version="1.0" encoding="utf-8"?>
<p:tagLst xmlns:p="http://schemas.openxmlformats.org/presentationml/2006/main">
  <p:tag name="KSO_WM_DIAGRAM_VIRTUALLY_FRAME" val="{&quot;height&quot;:199.19629921259843,&quot;left&quot;:181.09086614173228,&quot;top&quot;:123.80370078740157,&quot;width&quot;:182.65913385826772}"/>
</p:tagLst>
</file>

<file path=ppt/tags/tag3.xml><?xml version="1.0" encoding="utf-8"?>
<p:tagLst xmlns:p="http://schemas.openxmlformats.org/presentationml/2006/main">
  <p:tag name="KSO_WM_DIAGRAM_VIRTUALLY_FRAME" val="{&quot;height&quot;:199.19629921259843,&quot;left&quot;:181.09086614173228,&quot;top&quot;:123.80370078740157,&quot;width&quot;:182.65913385826772}"/>
</p:tagLst>
</file>

<file path=ppt/tags/tag4.xml><?xml version="1.0" encoding="utf-8"?>
<p:tagLst xmlns:p="http://schemas.openxmlformats.org/presentationml/2006/main">
  <p:tag name="KSO_WM_DIAGRAM_VIRTUALLY_FRAME" val="{&quot;height&quot;:199.19629921259843,&quot;left&quot;:181.09086614173228,&quot;top&quot;:123.80370078740157,&quot;width&quot;:182.65913385826772}"/>
</p:tagLst>
</file>

<file path=ppt/tags/tag5.xml><?xml version="1.0" encoding="utf-8"?>
<p:tagLst xmlns:p="http://schemas.openxmlformats.org/presentationml/2006/main">
  <p:tag name="TABLE_ENDDRAG_ORIGIN_RECT" val="944*437"/>
  <p:tag name="TABLE_ENDDRAG_RECT" val="5*83*944*43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17923</Words>
  <Application>WPS Presentation</Application>
  <PresentationFormat>Widescreen</PresentationFormat>
  <Paragraphs>520</Paragraphs>
  <Slides>38</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38</vt:i4>
      </vt:variant>
    </vt:vector>
  </HeadingPairs>
  <TitlesOfParts>
    <vt:vector size="54" baseType="lpstr">
      <vt:lpstr>Arial</vt:lpstr>
      <vt:lpstr>SimSun</vt:lpstr>
      <vt:lpstr>Wingdings</vt:lpstr>
      <vt:lpstr>Calibri</vt:lpstr>
      <vt:lpstr>Papyrus</vt:lpstr>
      <vt:lpstr>Aptos Display</vt:lpstr>
      <vt:lpstr>Segoe UI Variable Display</vt:lpstr>
      <vt:lpstr>Mangal</vt:lpstr>
      <vt:lpstr>Calibri Light</vt:lpstr>
      <vt:lpstr>Microsoft YaHei</vt:lpstr>
      <vt:lpstr>Arial Unicode MS</vt:lpstr>
      <vt:lpstr>ZapfDingbats</vt:lpstr>
      <vt:lpstr>Nunito</vt:lpstr>
      <vt:lpstr>Euphorigenic</vt:lpstr>
      <vt:lpstr>Yellowtail</vt:lpstr>
      <vt:lpstr>Office Theme</vt:lpstr>
      <vt:lpstr>Agile</vt:lpstr>
      <vt:lpstr>Introduction to Agile</vt:lpstr>
      <vt:lpstr>Agile Manifesto</vt:lpstr>
      <vt:lpstr>The Agile Principles</vt:lpstr>
      <vt:lpstr>The Agile Principles</vt:lpstr>
      <vt:lpstr>Agile Implementations</vt:lpstr>
      <vt:lpstr>Case Study:  Building the team</vt:lpstr>
      <vt:lpstr>It takes many roles to build a K-12 analytics system…</vt:lpstr>
      <vt:lpstr>It takes many roles to build a K-12 analytics system…</vt:lpstr>
      <vt:lpstr>It takes many roles to build a K-12 analytics system…</vt:lpstr>
      <vt:lpstr>Key Characteristics</vt:lpstr>
      <vt:lpstr> Early and Frequent Feedback</vt:lpstr>
      <vt:lpstr>How it works </vt:lpstr>
      <vt:lpstr>Key benefits </vt:lpstr>
      <vt:lpstr>Examples of feedback mechanisms </vt:lpstr>
      <vt:lpstr>Roles of Agile team</vt:lpstr>
      <vt:lpstr>Roles of Agile team</vt:lpstr>
      <vt:lpstr>Roles of Agile team</vt:lpstr>
      <vt:lpstr>Roles of Agile team</vt:lpstr>
      <vt:lpstr>Reveal Team Building</vt:lpstr>
      <vt:lpstr>Agile Results on Reveal</vt:lpstr>
      <vt:lpstr>Case Study:  Managing the team</vt:lpstr>
      <vt:lpstr>Scrum is the most popular agile process</vt:lpstr>
      <vt:lpstr>Kanban + Scrum =“Scrum-ban”</vt:lpstr>
      <vt:lpstr>Kanban Board</vt:lpstr>
      <vt:lpstr>Scrum time at the Kanban Board</vt:lpstr>
      <vt:lpstr>Collaborative development</vt:lpstr>
      <vt:lpstr>Other techniques contributing to being “agile”</vt:lpstr>
      <vt:lpstr>Agile results on TSDS</vt:lpstr>
      <vt:lpstr>How can this be applied to an  SEA implementation?</vt:lpstr>
      <vt:lpstr>Wrap an agile process in a conventional project/product management process</vt:lpstr>
      <vt:lpstr>PowerPoint 演示文稿</vt:lpstr>
      <vt:lpstr>PowerPoint 演示文稿</vt:lpstr>
      <vt:lpstr>PowerPoint 演示文稿</vt:lpstr>
      <vt:lpstr>PowerPoint 演示文稿</vt:lpstr>
      <vt:lpstr>Software support and maintenance</vt:lpstr>
      <vt:lpstr>Software support and maintenance</vt:lpstr>
      <vt:lpstr>More Info on Agile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Manisha Shah</cp:lastModifiedBy>
  <cp:revision>22</cp:revision>
  <dcterms:created xsi:type="dcterms:W3CDTF">2025-07-23T00:59:00Z</dcterms:created>
  <dcterms:modified xsi:type="dcterms:W3CDTF">2025-12-22T09:06:09Z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72372A4F8B3147819B4717530E168522_11</vt:lpwstr>
  </property>
  <property fmtid="{D5CDD505-2E9C-101B-9397-08002B2CF9AE}" pid="3" name="KSOProductBuildVer">
    <vt:lpwstr>1033-12.2.0.23155</vt:lpwstr>
  </property>
</Properties>
</file>